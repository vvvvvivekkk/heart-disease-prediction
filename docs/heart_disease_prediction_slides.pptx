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Our project is Heart Disease Prediction using an Artificial Neural Network. Presenting on behalf of our team. The goal is to use deep learning to predict whether a person is likely to have heart disease from their basic medical test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Heart disease is one of the leading causes of death worldwide. Normally a doctor studies many test reports to judge the risk, which takes time and expertise. Our question is simple: can a computer learn, from past patient records, to flag who is likely to have heart disease — acting as an early-warning helper? If asked whether this replaces doctors: no, it is a support tool; the doctor still decides.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used the well-known UCI Cleveland Heart Disease dataset — 303 real patient records. Each patient has 13 health measurements such as age, blood pressure, cholesterol and maximum heart rate. The one thing we predict is whether the patient has heart disease — yes or no. Think of it like an Excel sheet: 13 input columns and one answer column. The data is fairly balanced — about 165 with disease, 138 without.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model can learn, we prepare the data in three steps. First, scale the numbers so large values like cholesterol don't overpower small ones. Second, convert category codes like chest-pain type into separate yes/no columns. Third, split the data: 70% to learn from, 15% to check during training, and 15% kept hidden for the final honest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model is a neural network with two hidden layers of 64 and 32 neurons. The 13 features become 27 inputs after encoding. Each layer combines the numbers and passes them forward, gradually learning the pattern that separates healthy from sick. The final layer gives one probability between 0 and 1 — higher means more likely to have heart disease. We use dropout and batch-normalisation so it learns the pattern instead of memorising.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Training means the model makes a guess, we measure how wrong it is, and it adjusts itself to do better — repeated many times. In the graph, the loss going down means fewer mistakes each round. We use early stopping, so training halts automatically once it stops improving, which prevents over-studying the training data. It only trains a few seconds and stopped around 40–50 passes.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Using 5-fold cross-validation — a fair way to test across all the data — the model reached about 82% accuracy and a ROC-AUC of 0.88. Most important for a health check, recall is 80% — it catches 80% of patients who actually have the disease. The confusion matrix shows correct versus wrong predictions, and the ROC curve shows it separates sick from healthy well. We also compared against logistic regression, random forest and gradient boosting — our network was competitive and had the best ROC-AUC. Recall matters most because missing a sick patient is worse than a false alarm.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we built a neural network in PyTorch, trained it on 303 patient records, tested it fairly with cross-validation, and compared it to classic models. It reaches about 82% accuracy and catches 80% of true cases. One honest finding — on small data, simple models can match deep learning. Future work: tune the settings, explain predictions with SHAP, and test on more data. Thank you —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5733288" y="640080"/>
            <a:ext cx="731520" cy="731520"/>
          </a:xfrm>
          <a:prstGeom prst="ellipse">
            <a:avLst/>
          </a:prstGeom>
          <a:solidFill>
            <a:srgbClr val="E63946"/>
          </a:solidFill>
          <a:ln w="12700">
            <a:solidFill>
              <a:srgbClr val="E63946"/>
            </a:solidFill>
            <a:prstDash val="solid"/>
          </a:ln>
        </p:spPr>
      </p:sp>
      <p:sp>
        <p:nvSpPr>
          <p:cNvPr id="3" name="Text 1"/>
          <p:cNvSpPr txBox="1"/>
          <p:nvPr/>
        </p:nvSpPr>
        <p:spPr>
          <a:xfrm>
            <a:off x="5733288" y="603504"/>
            <a:ext cx="731520" cy="777240"/>
          </a:xfrm>
          <a:prstGeom prst="rect">
            <a:avLst/>
          </a:prstGeom>
          <a:noFill/>
          <a:ln/>
        </p:spPr>
        <p:txBody>
          <a:bodyPr wrap="square" lIns="0" tIns="0" rIns="0" bIns="0"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a:t>
            </a:r>
            <a:endParaRPr lang="en-US" sz="4000" dirty="0"/>
          </a:p>
        </p:txBody>
      </p:sp>
      <p:sp>
        <p:nvSpPr>
          <p:cNvPr id="4" name="Text 2"/>
          <p:cNvSpPr txBox="1"/>
          <p:nvPr/>
        </p:nvSpPr>
        <p:spPr>
          <a:xfrm>
            <a:off x="457200" y="1600200"/>
            <a:ext cx="11274552" cy="82296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Heart Disease Prediction</a:t>
            </a:r>
            <a:endParaRPr lang="en-US" sz="4400" dirty="0"/>
          </a:p>
        </p:txBody>
      </p:sp>
      <p:sp>
        <p:nvSpPr>
          <p:cNvPr id="5" name="Text 3"/>
          <p:cNvSpPr txBox="1"/>
          <p:nvPr/>
        </p:nvSpPr>
        <p:spPr>
          <a:xfrm>
            <a:off x="457200" y="2395728"/>
            <a:ext cx="11274552" cy="457200"/>
          </a:xfrm>
          <a:prstGeom prst="rect">
            <a:avLst/>
          </a:prstGeom>
          <a:noFill/>
          <a:ln/>
        </p:spPr>
        <p:txBody>
          <a:bodyPr wrap="square" lIns="0" tIns="0" rIns="0" bIns="0" rtlCol="0" anchor="ctr"/>
          <a:lstStyle/>
          <a:p>
            <a:pPr algn="ctr" indent="0" marL="0">
              <a:buNone/>
            </a:pPr>
            <a:r>
              <a:rPr lang="en-US" sz="2200" dirty="0">
                <a:solidFill>
                  <a:srgbClr val="9FB3D1"/>
                </a:solidFill>
                <a:latin typeface="Calibri" pitchFamily="34" charset="0"/>
                <a:ea typeface="Calibri" pitchFamily="34" charset="-122"/>
                <a:cs typeface="Calibri" pitchFamily="34" charset="-120"/>
              </a:rPr>
              <a:t>using an Artificial Neural Network (ANN)</a:t>
            </a:r>
            <a:endParaRPr lang="en-US" sz="2200" dirty="0"/>
          </a:p>
        </p:txBody>
      </p:sp>
      <p:sp>
        <p:nvSpPr>
          <p:cNvPr id="6" name="Shape 4"/>
          <p:cNvSpPr/>
          <p:nvPr/>
        </p:nvSpPr>
        <p:spPr>
          <a:xfrm>
            <a:off x="3108960" y="3063240"/>
            <a:ext cx="5971032" cy="2697480"/>
          </a:xfrm>
          <a:prstGeom prst="roundRect">
            <a:avLst>
              <a:gd name="adj" fmla="val 3051"/>
            </a:avLst>
          </a:prstGeom>
          <a:solidFill>
            <a:srgbClr val="223253"/>
          </a:solidFill>
          <a:ln w="15875">
            <a:solidFill>
              <a:srgbClr val="E63946"/>
            </a:solidFill>
            <a:prstDash val="solid"/>
          </a:ln>
        </p:spPr>
      </p:sp>
      <p:sp>
        <p:nvSpPr>
          <p:cNvPr id="7" name="Text 5"/>
          <p:cNvSpPr txBox="1"/>
          <p:nvPr/>
        </p:nvSpPr>
        <p:spPr>
          <a:xfrm>
            <a:off x="3108960" y="3200400"/>
            <a:ext cx="5971032" cy="320040"/>
          </a:xfrm>
          <a:prstGeom prst="rect">
            <a:avLst/>
          </a:prstGeom>
          <a:noFill/>
          <a:ln/>
        </p:spPr>
        <p:txBody>
          <a:bodyPr wrap="square" lIns="0" tIns="0" rIns="0" bIns="0" rtlCol="0" anchor="ctr"/>
          <a:lstStyle/>
          <a:p>
            <a:pPr algn="ctr" indent="0" marL="0">
              <a:buNone/>
            </a:pPr>
            <a:r>
              <a:rPr lang="en-US" sz="1400" b="1" spc="300" kern="0" dirty="0">
                <a:solidFill>
                  <a:srgbClr val="E63946"/>
                </a:solidFill>
                <a:latin typeface="Calibri" pitchFamily="34" charset="0"/>
                <a:ea typeface="Calibri" pitchFamily="34" charset="-122"/>
                <a:cs typeface="Calibri" pitchFamily="34" charset="-120"/>
              </a:rPr>
              <a:t>T E A M</a:t>
            </a:r>
            <a:endParaRPr lang="en-US" sz="1400" dirty="0"/>
          </a:p>
        </p:txBody>
      </p:sp>
      <p:sp>
        <p:nvSpPr>
          <p:cNvPr id="8" name="Text 6"/>
          <p:cNvSpPr txBox="1"/>
          <p:nvPr/>
        </p:nvSpPr>
        <p:spPr>
          <a:xfrm>
            <a:off x="3977640" y="3703320"/>
            <a:ext cx="1828800" cy="365760"/>
          </a:xfrm>
          <a:prstGeom prst="rect">
            <a:avLst/>
          </a:prstGeom>
          <a:noFill/>
          <a:ln/>
        </p:spPr>
        <p:txBody>
          <a:bodyPr wrap="square" lIns="0" tIns="0" rIns="0" bIns="0" rtlCol="0" anchor="ctr"/>
          <a:lstStyle/>
          <a:p>
            <a:pPr algn="l" indent="0" marL="0">
              <a:buNone/>
            </a:pPr>
            <a:r>
              <a:rPr lang="en-US" sz="1500" b="1" dirty="0">
                <a:solidFill>
                  <a:srgbClr val="9FB3D1"/>
                </a:solidFill>
                <a:latin typeface="Calibri" pitchFamily="34" charset="0"/>
                <a:ea typeface="Calibri" pitchFamily="34" charset="-122"/>
                <a:cs typeface="Calibri" pitchFamily="34" charset="-120"/>
              </a:rPr>
              <a:t>23EG106C01</a:t>
            </a:r>
            <a:endParaRPr lang="en-US" sz="1500" dirty="0"/>
          </a:p>
        </p:txBody>
      </p:sp>
      <p:sp>
        <p:nvSpPr>
          <p:cNvPr id="9" name="Text 7"/>
          <p:cNvSpPr txBox="1"/>
          <p:nvPr/>
        </p:nvSpPr>
        <p:spPr>
          <a:xfrm>
            <a:off x="5943600" y="3703320"/>
            <a:ext cx="2926080" cy="365760"/>
          </a:xfrm>
          <a:prstGeom prst="rect">
            <a:avLst/>
          </a:prstGeom>
          <a:noFill/>
          <a:ln/>
        </p:spPr>
        <p:txBody>
          <a:bodyPr wrap="square" lIns="0" tIns="0" rIns="0" bIns="0" rtlCol="0" anchor="ctr"/>
          <a:lstStyle/>
          <a:p>
            <a:pPr algn="l" indent="0" marL="0">
              <a:buNone/>
            </a:pPr>
            <a:r>
              <a:rPr lang="en-US" sz="1600" b="1" dirty="0">
                <a:solidFill>
                  <a:srgbClr val="FFFFFF"/>
                </a:solidFill>
                <a:latin typeface="Calibri" pitchFamily="34" charset="0"/>
                <a:ea typeface="Calibri" pitchFamily="34" charset="-122"/>
                <a:cs typeface="Calibri" pitchFamily="34" charset="-120"/>
              </a:rPr>
              <a:t>Aedula Sricharan</a:t>
            </a:r>
            <a:endParaRPr lang="en-US" sz="1600" dirty="0"/>
          </a:p>
        </p:txBody>
      </p:sp>
      <p:sp>
        <p:nvSpPr>
          <p:cNvPr id="10" name="Text 8"/>
          <p:cNvSpPr txBox="1"/>
          <p:nvPr/>
        </p:nvSpPr>
        <p:spPr>
          <a:xfrm>
            <a:off x="3977640" y="4187952"/>
            <a:ext cx="1828800" cy="365760"/>
          </a:xfrm>
          <a:prstGeom prst="rect">
            <a:avLst/>
          </a:prstGeom>
          <a:noFill/>
          <a:ln/>
        </p:spPr>
        <p:txBody>
          <a:bodyPr wrap="square" lIns="0" tIns="0" rIns="0" bIns="0" rtlCol="0" anchor="ctr"/>
          <a:lstStyle/>
          <a:p>
            <a:pPr algn="l" indent="0" marL="0">
              <a:buNone/>
            </a:pPr>
            <a:r>
              <a:rPr lang="en-US" sz="1500" b="1" dirty="0">
                <a:solidFill>
                  <a:srgbClr val="9FB3D1"/>
                </a:solidFill>
                <a:latin typeface="Calibri" pitchFamily="34" charset="0"/>
                <a:ea typeface="Calibri" pitchFamily="34" charset="-122"/>
                <a:cs typeface="Calibri" pitchFamily="34" charset="-120"/>
              </a:rPr>
              <a:t>23EG106C02</a:t>
            </a:r>
            <a:endParaRPr lang="en-US" sz="1500" dirty="0"/>
          </a:p>
        </p:txBody>
      </p:sp>
      <p:sp>
        <p:nvSpPr>
          <p:cNvPr id="11" name="Text 9"/>
          <p:cNvSpPr txBox="1"/>
          <p:nvPr/>
        </p:nvSpPr>
        <p:spPr>
          <a:xfrm>
            <a:off x="5943600" y="4187952"/>
            <a:ext cx="2926080" cy="365760"/>
          </a:xfrm>
          <a:prstGeom prst="rect">
            <a:avLst/>
          </a:prstGeom>
          <a:noFill/>
          <a:ln/>
        </p:spPr>
        <p:txBody>
          <a:bodyPr wrap="square" lIns="0" tIns="0" rIns="0" bIns="0" rtlCol="0" anchor="ctr"/>
          <a:lstStyle/>
          <a:p>
            <a:pPr algn="l" indent="0" marL="0">
              <a:buNone/>
            </a:pPr>
            <a:r>
              <a:rPr lang="en-US" sz="1600" b="1" dirty="0">
                <a:solidFill>
                  <a:srgbClr val="FFFFFF"/>
                </a:solidFill>
                <a:latin typeface="Calibri" pitchFamily="34" charset="0"/>
                <a:ea typeface="Calibri" pitchFamily="34" charset="-122"/>
                <a:cs typeface="Calibri" pitchFamily="34" charset="-120"/>
              </a:rPr>
              <a:t>Akkinepally Nagasai</a:t>
            </a:r>
            <a:endParaRPr lang="en-US" sz="1600" dirty="0"/>
          </a:p>
        </p:txBody>
      </p:sp>
      <p:sp>
        <p:nvSpPr>
          <p:cNvPr id="12" name="Text 10"/>
          <p:cNvSpPr txBox="1"/>
          <p:nvPr/>
        </p:nvSpPr>
        <p:spPr>
          <a:xfrm>
            <a:off x="3977640" y="4672584"/>
            <a:ext cx="1828800" cy="365760"/>
          </a:xfrm>
          <a:prstGeom prst="rect">
            <a:avLst/>
          </a:prstGeom>
          <a:noFill/>
          <a:ln/>
        </p:spPr>
        <p:txBody>
          <a:bodyPr wrap="square" lIns="0" tIns="0" rIns="0" bIns="0" rtlCol="0" anchor="ctr"/>
          <a:lstStyle/>
          <a:p>
            <a:pPr algn="l" indent="0" marL="0">
              <a:buNone/>
            </a:pPr>
            <a:r>
              <a:rPr lang="en-US" sz="1500" b="1" dirty="0">
                <a:solidFill>
                  <a:srgbClr val="9FB3D1"/>
                </a:solidFill>
                <a:latin typeface="Calibri" pitchFamily="34" charset="0"/>
                <a:ea typeface="Calibri" pitchFamily="34" charset="-122"/>
                <a:cs typeface="Calibri" pitchFamily="34" charset="-120"/>
              </a:rPr>
              <a:t>23EG106C03</a:t>
            </a:r>
            <a:endParaRPr lang="en-US" sz="1500" dirty="0"/>
          </a:p>
        </p:txBody>
      </p:sp>
      <p:sp>
        <p:nvSpPr>
          <p:cNvPr id="13" name="Text 11"/>
          <p:cNvSpPr txBox="1"/>
          <p:nvPr/>
        </p:nvSpPr>
        <p:spPr>
          <a:xfrm>
            <a:off x="5943600" y="4672584"/>
            <a:ext cx="2926080" cy="365760"/>
          </a:xfrm>
          <a:prstGeom prst="rect">
            <a:avLst/>
          </a:prstGeom>
          <a:noFill/>
          <a:ln/>
        </p:spPr>
        <p:txBody>
          <a:bodyPr wrap="square" lIns="0" tIns="0" rIns="0" bIns="0" rtlCol="0" anchor="ctr"/>
          <a:lstStyle/>
          <a:p>
            <a:pPr algn="l" indent="0" marL="0">
              <a:buNone/>
            </a:pPr>
            <a:r>
              <a:rPr lang="en-US" sz="1600" b="1" dirty="0">
                <a:solidFill>
                  <a:srgbClr val="FFFFFF"/>
                </a:solidFill>
                <a:latin typeface="Calibri" pitchFamily="34" charset="0"/>
                <a:ea typeface="Calibri" pitchFamily="34" charset="-122"/>
                <a:cs typeface="Calibri" pitchFamily="34" charset="-120"/>
              </a:rPr>
              <a:t>Akshith Sai Nalla</a:t>
            </a:r>
            <a:endParaRPr lang="en-US" sz="1600" dirty="0"/>
          </a:p>
        </p:txBody>
      </p:sp>
      <p:sp>
        <p:nvSpPr>
          <p:cNvPr id="14" name="Text 12"/>
          <p:cNvSpPr txBox="1"/>
          <p:nvPr/>
        </p:nvSpPr>
        <p:spPr>
          <a:xfrm>
            <a:off x="3977640" y="5157216"/>
            <a:ext cx="1828800" cy="365760"/>
          </a:xfrm>
          <a:prstGeom prst="rect">
            <a:avLst/>
          </a:prstGeom>
          <a:noFill/>
          <a:ln/>
        </p:spPr>
        <p:txBody>
          <a:bodyPr wrap="square" lIns="0" tIns="0" rIns="0" bIns="0" rtlCol="0" anchor="ctr"/>
          <a:lstStyle/>
          <a:p>
            <a:pPr algn="l" indent="0" marL="0">
              <a:buNone/>
            </a:pPr>
            <a:r>
              <a:rPr lang="en-US" sz="1500" b="1" dirty="0">
                <a:solidFill>
                  <a:srgbClr val="9FB3D1"/>
                </a:solidFill>
                <a:latin typeface="Calibri" pitchFamily="34" charset="0"/>
                <a:ea typeface="Calibri" pitchFamily="34" charset="-122"/>
                <a:cs typeface="Calibri" pitchFamily="34" charset="-120"/>
              </a:rPr>
              <a:t>23EG106C04</a:t>
            </a:r>
            <a:endParaRPr lang="en-US" sz="1500" dirty="0"/>
          </a:p>
        </p:txBody>
      </p:sp>
      <p:sp>
        <p:nvSpPr>
          <p:cNvPr id="15" name="Text 13"/>
          <p:cNvSpPr txBox="1"/>
          <p:nvPr/>
        </p:nvSpPr>
        <p:spPr>
          <a:xfrm>
            <a:off x="5943600" y="5157216"/>
            <a:ext cx="2926080" cy="365760"/>
          </a:xfrm>
          <a:prstGeom prst="rect">
            <a:avLst/>
          </a:prstGeom>
          <a:noFill/>
          <a:ln/>
        </p:spPr>
        <p:txBody>
          <a:bodyPr wrap="square" lIns="0" tIns="0" rIns="0" bIns="0" rtlCol="0" anchor="ctr"/>
          <a:lstStyle/>
          <a:p>
            <a:pPr algn="l" indent="0" marL="0">
              <a:buNone/>
            </a:pPr>
            <a:r>
              <a:rPr lang="en-US" sz="1600" b="1" dirty="0">
                <a:solidFill>
                  <a:srgbClr val="FFFFFF"/>
                </a:solidFill>
                <a:latin typeface="Calibri" pitchFamily="34" charset="0"/>
                <a:ea typeface="Calibri" pitchFamily="34" charset="-122"/>
                <a:cs typeface="Calibri" pitchFamily="34" charset="-120"/>
              </a:rPr>
              <a:t>Vivek Reddy A</a:t>
            </a:r>
            <a:endParaRPr lang="en-US" sz="1600" dirty="0"/>
          </a:p>
        </p:txBody>
      </p:sp>
      <p:sp>
        <p:nvSpPr>
          <p:cNvPr id="16" name="Text 14"/>
          <p:cNvSpPr txBox="1"/>
          <p:nvPr/>
        </p:nvSpPr>
        <p:spPr>
          <a:xfrm>
            <a:off x="457200" y="6080760"/>
            <a:ext cx="11274552" cy="365760"/>
          </a:xfrm>
          <a:prstGeom prst="rect">
            <a:avLst/>
          </a:prstGeom>
          <a:noFill/>
          <a:ln/>
        </p:spPr>
        <p:txBody>
          <a:bodyPr wrap="square" lIns="0" tIns="0" rIns="0" bIns="0" rtlCol="0" anchor="ctr"/>
          <a:lstStyle/>
          <a:p>
            <a:pPr algn="ctr" indent="0" marL="0">
              <a:buNone/>
            </a:pPr>
            <a:r>
              <a:rPr lang="en-US" sz="1300" dirty="0">
                <a:solidFill>
                  <a:srgbClr val="9FB3D1"/>
                </a:solidFill>
                <a:latin typeface="Calibri" pitchFamily="34" charset="0"/>
                <a:ea typeface="Calibri" pitchFamily="34" charset="-122"/>
                <a:cs typeface="Calibri" pitchFamily="34" charset="-120"/>
              </a:rPr>
              <a:t>Deep Learning — Project-Based Learning (PBL)</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0972800" cy="274320"/>
          </a:xfrm>
          <a:prstGeom prst="rect">
            <a:avLst/>
          </a:prstGeom>
          <a:noFill/>
          <a:ln/>
        </p:spPr>
        <p:txBody>
          <a:bodyPr wrap="square" lIns="0" tIns="0" rIns="0" bIns="0" rtlCol="0" anchor="ctr"/>
          <a:lstStyle/>
          <a:p>
            <a:pPr indent="0" marL="0">
              <a:buNone/>
            </a:pPr>
            <a:r>
              <a:rPr lang="en-US" sz="1200" b="1" spc="300" kern="0" dirty="0">
                <a:solidFill>
                  <a:srgbClr val="E63946"/>
                </a:solidFill>
                <a:latin typeface="Calibri" pitchFamily="34" charset="0"/>
                <a:ea typeface="Calibri" pitchFamily="34" charset="-122"/>
                <a:cs typeface="Calibri" pitchFamily="34" charset="-120"/>
              </a:rPr>
              <a:t>THE PROBLEM</a:t>
            </a:r>
            <a:endParaRPr lang="en-US" sz="12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What are we trying to solve?</a:t>
            </a:r>
            <a:endParaRPr lang="en-US" sz="3000" dirty="0"/>
          </a:p>
        </p:txBody>
      </p:sp>
      <p:sp>
        <p:nvSpPr>
          <p:cNvPr id="4" name="Shape 2"/>
          <p:cNvSpPr/>
          <p:nvPr/>
        </p:nvSpPr>
        <p:spPr>
          <a:xfrm>
            <a:off x="548640" y="1554480"/>
            <a:ext cx="6400800" cy="4206240"/>
          </a:xfrm>
          <a:prstGeom prst="roundRect">
            <a:avLst>
              <a:gd name="adj" fmla="val 1957"/>
            </a:avLst>
          </a:prstGeom>
          <a:solidFill>
            <a:srgbClr val="FFFFFF"/>
          </a:solidFill>
          <a:ln w="12700">
            <a:solidFill>
              <a:srgbClr val="E2E7EF"/>
            </a:solidFill>
            <a:prstDash val="solid"/>
          </a:ln>
        </p:spPr>
      </p:sp>
      <p:sp>
        <p:nvSpPr>
          <p:cNvPr id="5" name="Text 3"/>
          <p:cNvSpPr txBox="1"/>
          <p:nvPr/>
        </p:nvSpPr>
        <p:spPr>
          <a:xfrm>
            <a:off x="868680" y="1828800"/>
            <a:ext cx="5760720" cy="457200"/>
          </a:xfrm>
          <a:prstGeom prst="rect">
            <a:avLst/>
          </a:prstGeom>
          <a:noFill/>
          <a:ln/>
        </p:spPr>
        <p:txBody>
          <a:bodyPr wrap="square" lIns="0" tIns="0" rIns="0" bIns="0" rtlCol="0" anchor="ctr"/>
          <a:lstStyle/>
          <a:p>
            <a:pPr indent="0" marL="0">
              <a:buNone/>
            </a:pPr>
            <a:r>
              <a:rPr lang="en-US" sz="1900" b="1" dirty="0">
                <a:solidFill>
                  <a:srgbClr val="1B2A4A"/>
                </a:solidFill>
                <a:latin typeface="Calibri" pitchFamily="34" charset="0"/>
                <a:ea typeface="Calibri" pitchFamily="34" charset="-122"/>
                <a:cs typeface="Calibri" pitchFamily="34" charset="-120"/>
              </a:rPr>
              <a:t>Heart disease is a leading cause of death.</a:t>
            </a:r>
            <a:endParaRPr lang="en-US" sz="1900" dirty="0"/>
          </a:p>
        </p:txBody>
      </p:sp>
      <p:sp>
        <p:nvSpPr>
          <p:cNvPr id="6" name="Text 4"/>
          <p:cNvSpPr txBox="1"/>
          <p:nvPr/>
        </p:nvSpPr>
        <p:spPr>
          <a:xfrm>
            <a:off x="868680" y="2468880"/>
            <a:ext cx="5760720" cy="3017520"/>
          </a:xfrm>
          <a:prstGeom prst="rect">
            <a:avLst/>
          </a:prstGeom>
          <a:noFill/>
          <a:ln/>
        </p:spPr>
        <p:txBody>
          <a:bodyPr wrap="square" lIns="0" tIns="0" rIns="0" bIns="0" rtlCol="0" anchor="ctr"/>
          <a:lstStyle/>
          <a:p>
            <a:pPr marL="228600" indent="-228600">
              <a:spcAft>
                <a:spcPts val="1400"/>
              </a:spcAft>
              <a:buSzPct val="100000"/>
              <a:buChar char="•"/>
            </a:pPr>
            <a:r>
              <a:rPr lang="en-US" sz="1600" dirty="0">
                <a:solidFill>
                  <a:srgbClr val="20262E"/>
                </a:solidFill>
                <a:latin typeface="Calibri" pitchFamily="34" charset="0"/>
                <a:ea typeface="Calibri" pitchFamily="34" charset="-122"/>
                <a:cs typeface="Calibri" pitchFamily="34" charset="-120"/>
              </a:rPr>
              <a:t>Doctors read many test results to judge risk.</a:t>
            </a:r>
            <a:endParaRPr lang="en-US" sz="1600" dirty="0"/>
          </a:p>
          <a:p>
            <a:pPr marL="228600" indent="-228600">
              <a:spcAft>
                <a:spcPts val="1400"/>
              </a:spcAft>
              <a:buSzPct val="100000"/>
              <a:buChar char="•"/>
            </a:pPr>
            <a:r>
              <a:rPr lang="en-US" sz="1600" dirty="0">
                <a:solidFill>
                  <a:srgbClr val="20262E"/>
                </a:solidFill>
                <a:latin typeface="Calibri" pitchFamily="34" charset="0"/>
                <a:ea typeface="Calibri" pitchFamily="34" charset="-122"/>
                <a:cs typeface="Calibri" pitchFamily="34" charset="-120"/>
              </a:rPr>
              <a:t>That takes time and expert skill.</a:t>
            </a:r>
            <a:endParaRPr lang="en-US" sz="1600" dirty="0"/>
          </a:p>
          <a:p>
            <a:pPr marL="228600" indent="-228600">
              <a:spcAft>
                <a:spcPts val="1400"/>
              </a:spcAft>
              <a:buSzPct val="100000"/>
              <a:buChar char="•"/>
            </a:pPr>
            <a:r>
              <a:rPr lang="en-US" sz="1600" dirty="0">
                <a:solidFill>
                  <a:srgbClr val="20262E"/>
                </a:solidFill>
                <a:latin typeface="Calibri" pitchFamily="34" charset="0"/>
                <a:ea typeface="Calibri" pitchFamily="34" charset="-122"/>
                <a:cs typeface="Calibri" pitchFamily="34" charset="-120"/>
              </a:rPr>
              <a:t>Early warning can save lives.</a:t>
            </a:r>
            <a:endParaRPr lang="en-US" sz="1600" dirty="0"/>
          </a:p>
          <a:p>
            <a:pPr indent="0" marL="0">
              <a:spcAft>
                <a:spcPts val="1400"/>
              </a:spcAft>
              <a:buNone/>
            </a:pPr>
            <a:r>
              <a:rPr lang="en-US" sz="1600" i="1" dirty="0">
                <a:solidFill>
                  <a:srgbClr val="5B6672"/>
                </a:solidFill>
                <a:latin typeface="Calibri" pitchFamily="34" charset="0"/>
                <a:ea typeface="Calibri" pitchFamily="34" charset="-122"/>
                <a:cs typeface="Calibri" pitchFamily="34" charset="-120"/>
              </a:rPr>
              <a:t>Our question is on the right →</a:t>
            </a:r>
            <a:endParaRPr lang="en-US" sz="1600" dirty="0"/>
          </a:p>
        </p:txBody>
      </p:sp>
      <p:sp>
        <p:nvSpPr>
          <p:cNvPr id="7" name="Shape 5"/>
          <p:cNvSpPr/>
          <p:nvPr/>
        </p:nvSpPr>
        <p:spPr>
          <a:xfrm>
            <a:off x="7315200" y="1554480"/>
            <a:ext cx="4325112" cy="4206240"/>
          </a:xfrm>
          <a:prstGeom prst="roundRect">
            <a:avLst>
              <a:gd name="adj" fmla="val 1957"/>
            </a:avLst>
          </a:prstGeom>
          <a:solidFill>
            <a:srgbClr val="E63946"/>
          </a:solidFill>
          <a:ln w="12700">
            <a:solidFill>
              <a:srgbClr val="E63946"/>
            </a:solidFill>
            <a:prstDash val="solid"/>
          </a:ln>
        </p:spPr>
      </p:sp>
      <p:sp>
        <p:nvSpPr>
          <p:cNvPr id="8" name="Text 6"/>
          <p:cNvSpPr txBox="1"/>
          <p:nvPr/>
        </p:nvSpPr>
        <p:spPr>
          <a:xfrm>
            <a:off x="7315200" y="1920240"/>
            <a:ext cx="4325112" cy="822960"/>
          </a:xfrm>
          <a:prstGeom prst="rect">
            <a:avLst/>
          </a:prstGeom>
          <a:noFill/>
          <a:ln/>
        </p:spPr>
        <p:txBody>
          <a:bodyPr wrap="square" lIns="0" tIns="0" rIns="0" bIns="0" rtlCol="0" anchor="ctr"/>
          <a:lstStyle/>
          <a:p>
            <a:pPr algn="ctr" indent="0" marL="0">
              <a:buNone/>
            </a:pPr>
            <a:r>
              <a:rPr lang="en-US" sz="4600" b="1" dirty="0">
                <a:solidFill>
                  <a:srgbClr val="FFFFFF"/>
                </a:solidFill>
                <a:latin typeface="Calibri" pitchFamily="34" charset="0"/>
                <a:ea typeface="Calibri" pitchFamily="34" charset="-122"/>
                <a:cs typeface="Calibri" pitchFamily="34" charset="-120"/>
              </a:rPr>
              <a:t>+</a:t>
            </a:r>
            <a:endParaRPr lang="en-US" sz="4600" dirty="0"/>
          </a:p>
        </p:txBody>
      </p:sp>
      <p:sp>
        <p:nvSpPr>
          <p:cNvPr id="9" name="Text 7"/>
          <p:cNvSpPr txBox="1"/>
          <p:nvPr/>
        </p:nvSpPr>
        <p:spPr>
          <a:xfrm>
            <a:off x="7589520" y="2926080"/>
            <a:ext cx="3776472" cy="219456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Can a computer learn to spot heart disease?</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0972800" cy="274320"/>
          </a:xfrm>
          <a:prstGeom prst="rect">
            <a:avLst/>
          </a:prstGeom>
          <a:noFill/>
          <a:ln/>
        </p:spPr>
        <p:txBody>
          <a:bodyPr wrap="square" lIns="0" tIns="0" rIns="0" bIns="0" rtlCol="0" anchor="ctr"/>
          <a:lstStyle/>
          <a:p>
            <a:pPr indent="0" marL="0">
              <a:buNone/>
            </a:pPr>
            <a:r>
              <a:rPr lang="en-US" sz="1200" b="1" spc="300" kern="0" dirty="0">
                <a:solidFill>
                  <a:srgbClr val="E63946"/>
                </a:solidFill>
                <a:latin typeface="Calibri" pitchFamily="34" charset="0"/>
                <a:ea typeface="Calibri" pitchFamily="34" charset="-122"/>
                <a:cs typeface="Calibri" pitchFamily="34" charset="-120"/>
              </a:rPr>
              <a:t>THE DATA</a:t>
            </a:r>
            <a:endParaRPr lang="en-US" sz="12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What the model learns from</a:t>
            </a:r>
            <a:endParaRPr lang="en-US" sz="3000" dirty="0"/>
          </a:p>
        </p:txBody>
      </p:sp>
      <p:sp>
        <p:nvSpPr>
          <p:cNvPr id="4" name="Shape 2"/>
          <p:cNvSpPr/>
          <p:nvPr/>
        </p:nvSpPr>
        <p:spPr>
          <a:xfrm>
            <a:off x="548640" y="1554480"/>
            <a:ext cx="5394960" cy="1737360"/>
          </a:xfrm>
          <a:prstGeom prst="roundRect">
            <a:avLst>
              <a:gd name="adj" fmla="val 4737"/>
            </a:avLst>
          </a:prstGeom>
          <a:solidFill>
            <a:srgbClr val="FFFFFF"/>
          </a:solidFill>
          <a:ln w="12700">
            <a:solidFill>
              <a:srgbClr val="E2E7EF"/>
            </a:solidFill>
            <a:prstDash val="solid"/>
          </a:ln>
        </p:spPr>
      </p:sp>
      <p:sp>
        <p:nvSpPr>
          <p:cNvPr id="5" name="Text 3"/>
          <p:cNvSpPr txBox="1"/>
          <p:nvPr/>
        </p:nvSpPr>
        <p:spPr>
          <a:xfrm>
            <a:off x="548640" y="1691640"/>
            <a:ext cx="5394960" cy="868680"/>
          </a:xfrm>
          <a:prstGeom prst="rect">
            <a:avLst/>
          </a:prstGeom>
          <a:noFill/>
          <a:ln/>
        </p:spPr>
        <p:txBody>
          <a:bodyPr wrap="square" lIns="0" tIns="0" rIns="0" bIns="0" rtlCol="0" anchor="ctr"/>
          <a:lstStyle/>
          <a:p>
            <a:pPr algn="ctr" indent="0" marL="0">
              <a:buNone/>
            </a:pPr>
            <a:r>
              <a:rPr lang="en-US" sz="4600" b="1" dirty="0">
                <a:solidFill>
                  <a:srgbClr val="457B9D"/>
                </a:solidFill>
                <a:latin typeface="Cambria" pitchFamily="34" charset="0"/>
                <a:ea typeface="Cambria" pitchFamily="34" charset="-122"/>
                <a:cs typeface="Cambria" pitchFamily="34" charset="-120"/>
              </a:rPr>
              <a:t>303</a:t>
            </a:r>
            <a:endParaRPr lang="en-US" sz="4600" dirty="0"/>
          </a:p>
        </p:txBody>
      </p:sp>
      <p:sp>
        <p:nvSpPr>
          <p:cNvPr id="6" name="Text 4"/>
          <p:cNvSpPr txBox="1"/>
          <p:nvPr/>
        </p:nvSpPr>
        <p:spPr>
          <a:xfrm>
            <a:off x="548640" y="2606040"/>
            <a:ext cx="5394960" cy="457200"/>
          </a:xfrm>
          <a:prstGeom prst="rect">
            <a:avLst/>
          </a:prstGeom>
          <a:noFill/>
          <a:ln/>
        </p:spPr>
        <p:txBody>
          <a:bodyPr wrap="square" lIns="0" tIns="0" rIns="0" bIns="0" rtlCol="0" anchor="ctr"/>
          <a:lstStyle/>
          <a:p>
            <a:pPr algn="ctr" indent="0" marL="0">
              <a:buNone/>
            </a:pPr>
            <a:r>
              <a:rPr lang="en-US" sz="1500" dirty="0">
                <a:solidFill>
                  <a:srgbClr val="5B6672"/>
                </a:solidFill>
                <a:latin typeface="Calibri" pitchFamily="34" charset="0"/>
                <a:ea typeface="Calibri" pitchFamily="34" charset="-122"/>
                <a:cs typeface="Calibri" pitchFamily="34" charset="-120"/>
              </a:rPr>
              <a:t>patient records  (UCI Cleveland dataset)</a:t>
            </a:r>
            <a:endParaRPr lang="en-US" sz="1500" dirty="0"/>
          </a:p>
        </p:txBody>
      </p:sp>
      <p:sp>
        <p:nvSpPr>
          <p:cNvPr id="7" name="Shape 5"/>
          <p:cNvSpPr/>
          <p:nvPr/>
        </p:nvSpPr>
        <p:spPr>
          <a:xfrm>
            <a:off x="6245352" y="1554480"/>
            <a:ext cx="5394960" cy="1737360"/>
          </a:xfrm>
          <a:prstGeom prst="roundRect">
            <a:avLst>
              <a:gd name="adj" fmla="val 4737"/>
            </a:avLst>
          </a:prstGeom>
          <a:solidFill>
            <a:srgbClr val="FFFFFF"/>
          </a:solidFill>
          <a:ln w="12700">
            <a:solidFill>
              <a:srgbClr val="E2E7EF"/>
            </a:solidFill>
            <a:prstDash val="solid"/>
          </a:ln>
        </p:spPr>
      </p:sp>
      <p:sp>
        <p:nvSpPr>
          <p:cNvPr id="8" name="Text 6"/>
          <p:cNvSpPr txBox="1"/>
          <p:nvPr/>
        </p:nvSpPr>
        <p:spPr>
          <a:xfrm>
            <a:off x="6245352" y="1737360"/>
            <a:ext cx="5394960" cy="731520"/>
          </a:xfrm>
          <a:prstGeom prst="rect">
            <a:avLst/>
          </a:prstGeom>
          <a:noFill/>
          <a:ln/>
        </p:spPr>
        <p:txBody>
          <a:bodyPr wrap="square" lIns="0" tIns="0" rIns="0" bIns="0" rtlCol="0" anchor="ctr"/>
          <a:lstStyle/>
          <a:p>
            <a:pPr algn="ctr" indent="0" marL="0">
              <a:buNone/>
            </a:pPr>
            <a:r>
              <a:rPr lang="en-US" sz="3000" b="1" dirty="0">
                <a:solidFill>
                  <a:srgbClr val="1B2A4A"/>
                </a:solidFill>
                <a:latin typeface="Cambria" pitchFamily="34" charset="0"/>
                <a:ea typeface="Cambria" pitchFamily="34" charset="-122"/>
                <a:cs typeface="Cambria" pitchFamily="34" charset="-120"/>
              </a:rPr>
              <a:t>13 in  →  1 out</a:t>
            </a:r>
            <a:endParaRPr lang="en-US" sz="3000" dirty="0"/>
          </a:p>
        </p:txBody>
      </p:sp>
      <p:sp>
        <p:nvSpPr>
          <p:cNvPr id="9" name="Text 7"/>
          <p:cNvSpPr txBox="1"/>
          <p:nvPr/>
        </p:nvSpPr>
        <p:spPr>
          <a:xfrm>
            <a:off x="6245352" y="2514600"/>
            <a:ext cx="5394960" cy="548640"/>
          </a:xfrm>
          <a:prstGeom prst="rect">
            <a:avLst/>
          </a:prstGeom>
          <a:noFill/>
          <a:ln/>
        </p:spPr>
        <p:txBody>
          <a:bodyPr wrap="square" lIns="0" tIns="0" rIns="0" bIns="0" rtlCol="0" anchor="ctr"/>
          <a:lstStyle/>
          <a:p>
            <a:pPr algn="ctr" indent="0" marL="0">
              <a:buNone/>
            </a:pPr>
            <a:r>
              <a:rPr lang="en-US" sz="1400" dirty="0">
                <a:solidFill>
                  <a:srgbClr val="5B6672"/>
                </a:solidFill>
                <a:latin typeface="Calibri" pitchFamily="34" charset="0"/>
                <a:ea typeface="Calibri" pitchFamily="34" charset="-122"/>
                <a:cs typeface="Calibri" pitchFamily="34" charset="-120"/>
              </a:rPr>
              <a:t>13 health measurements predict one answer: disease? yes / no</a:t>
            </a:r>
            <a:endParaRPr lang="en-US" sz="1400" dirty="0"/>
          </a:p>
        </p:txBody>
      </p:sp>
      <p:sp>
        <p:nvSpPr>
          <p:cNvPr id="10" name="Shape 8"/>
          <p:cNvSpPr/>
          <p:nvPr/>
        </p:nvSpPr>
        <p:spPr>
          <a:xfrm>
            <a:off x="548640" y="3474720"/>
            <a:ext cx="11091672" cy="2286000"/>
          </a:xfrm>
          <a:prstGeom prst="roundRect">
            <a:avLst>
              <a:gd name="adj" fmla="val 3600"/>
            </a:avLst>
          </a:prstGeom>
          <a:solidFill>
            <a:srgbClr val="FFFFFF"/>
          </a:solidFill>
          <a:ln w="12700">
            <a:solidFill>
              <a:srgbClr val="E2E7EF"/>
            </a:solidFill>
            <a:prstDash val="solid"/>
          </a:ln>
        </p:spPr>
      </p:sp>
      <p:sp>
        <p:nvSpPr>
          <p:cNvPr id="11" name="Text 9"/>
          <p:cNvSpPr txBox="1"/>
          <p:nvPr/>
        </p:nvSpPr>
        <p:spPr>
          <a:xfrm>
            <a:off x="822960" y="3657600"/>
            <a:ext cx="10515600" cy="365760"/>
          </a:xfrm>
          <a:prstGeom prst="rect">
            <a:avLst/>
          </a:prstGeom>
          <a:noFill/>
          <a:ln/>
        </p:spPr>
        <p:txBody>
          <a:bodyPr wrap="square" lIns="0" tIns="0" rIns="0" bIns="0"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A few of the inputs</a:t>
            </a:r>
            <a:endParaRPr lang="en-US" sz="1500" dirty="0"/>
          </a:p>
        </p:txBody>
      </p:sp>
      <p:sp>
        <p:nvSpPr>
          <p:cNvPr id="12" name="Shape 10"/>
          <p:cNvSpPr/>
          <p:nvPr/>
        </p:nvSpPr>
        <p:spPr>
          <a:xfrm>
            <a:off x="868680" y="4114800"/>
            <a:ext cx="2468880" cy="502920"/>
          </a:xfrm>
          <a:prstGeom prst="roundRect">
            <a:avLst>
              <a:gd name="adj" fmla="val 14545"/>
            </a:avLst>
          </a:prstGeom>
          <a:solidFill>
            <a:srgbClr val="EEF3FA"/>
          </a:solidFill>
          <a:ln w="12700">
            <a:solidFill>
              <a:srgbClr val="457B9D"/>
            </a:solidFill>
            <a:prstDash val="solid"/>
          </a:ln>
        </p:spPr>
      </p:sp>
      <p:sp>
        <p:nvSpPr>
          <p:cNvPr id="13" name="Text 11"/>
          <p:cNvSpPr txBox="1"/>
          <p:nvPr/>
        </p:nvSpPr>
        <p:spPr>
          <a:xfrm>
            <a:off x="868680" y="4114800"/>
            <a:ext cx="2468880" cy="502920"/>
          </a:xfrm>
          <a:prstGeom prst="rect">
            <a:avLst/>
          </a:prstGeom>
          <a:noFill/>
          <a:ln/>
        </p:spPr>
        <p:txBody>
          <a:bodyPr wrap="square" lIns="0" tIns="0" rIns="0" bIns="0" rtlCol="0" anchor="ctr"/>
          <a:lstStyle/>
          <a:p>
            <a:pPr algn="ctr" indent="0" marL="0">
              <a:buNone/>
            </a:pPr>
            <a:r>
              <a:rPr lang="en-US" sz="1350" dirty="0">
                <a:solidFill>
                  <a:srgbClr val="1B2A4A"/>
                </a:solidFill>
                <a:latin typeface="Calibri" pitchFamily="34" charset="0"/>
                <a:ea typeface="Calibri" pitchFamily="34" charset="-122"/>
                <a:cs typeface="Calibri" pitchFamily="34" charset="-120"/>
              </a:rPr>
              <a:t>Age</a:t>
            </a:r>
            <a:endParaRPr lang="en-US" sz="1350" dirty="0"/>
          </a:p>
        </p:txBody>
      </p:sp>
      <p:sp>
        <p:nvSpPr>
          <p:cNvPr id="14" name="Shape 12"/>
          <p:cNvSpPr/>
          <p:nvPr/>
        </p:nvSpPr>
        <p:spPr>
          <a:xfrm>
            <a:off x="3566160" y="4114800"/>
            <a:ext cx="2468880" cy="502920"/>
          </a:xfrm>
          <a:prstGeom prst="roundRect">
            <a:avLst>
              <a:gd name="adj" fmla="val 14545"/>
            </a:avLst>
          </a:prstGeom>
          <a:solidFill>
            <a:srgbClr val="EEF3FA"/>
          </a:solidFill>
          <a:ln w="12700">
            <a:solidFill>
              <a:srgbClr val="457B9D"/>
            </a:solidFill>
            <a:prstDash val="solid"/>
          </a:ln>
        </p:spPr>
      </p:sp>
      <p:sp>
        <p:nvSpPr>
          <p:cNvPr id="15" name="Text 13"/>
          <p:cNvSpPr txBox="1"/>
          <p:nvPr/>
        </p:nvSpPr>
        <p:spPr>
          <a:xfrm>
            <a:off x="3566160" y="4114800"/>
            <a:ext cx="2468880" cy="502920"/>
          </a:xfrm>
          <a:prstGeom prst="rect">
            <a:avLst/>
          </a:prstGeom>
          <a:noFill/>
          <a:ln/>
        </p:spPr>
        <p:txBody>
          <a:bodyPr wrap="square" lIns="0" tIns="0" rIns="0" bIns="0" rtlCol="0" anchor="ctr"/>
          <a:lstStyle/>
          <a:p>
            <a:pPr algn="ctr" indent="0" marL="0">
              <a:buNone/>
            </a:pPr>
            <a:r>
              <a:rPr lang="en-US" sz="1350" dirty="0">
                <a:solidFill>
                  <a:srgbClr val="1B2A4A"/>
                </a:solidFill>
                <a:latin typeface="Calibri" pitchFamily="34" charset="0"/>
                <a:ea typeface="Calibri" pitchFamily="34" charset="-122"/>
                <a:cs typeface="Calibri" pitchFamily="34" charset="-120"/>
              </a:rPr>
              <a:t>Sex</a:t>
            </a:r>
            <a:endParaRPr lang="en-US" sz="1350" dirty="0"/>
          </a:p>
        </p:txBody>
      </p:sp>
      <p:sp>
        <p:nvSpPr>
          <p:cNvPr id="16" name="Shape 14"/>
          <p:cNvSpPr/>
          <p:nvPr/>
        </p:nvSpPr>
        <p:spPr>
          <a:xfrm>
            <a:off x="6263640" y="4114800"/>
            <a:ext cx="2468880" cy="502920"/>
          </a:xfrm>
          <a:prstGeom prst="roundRect">
            <a:avLst>
              <a:gd name="adj" fmla="val 14545"/>
            </a:avLst>
          </a:prstGeom>
          <a:solidFill>
            <a:srgbClr val="EEF3FA"/>
          </a:solidFill>
          <a:ln w="12700">
            <a:solidFill>
              <a:srgbClr val="457B9D"/>
            </a:solidFill>
            <a:prstDash val="solid"/>
          </a:ln>
        </p:spPr>
      </p:sp>
      <p:sp>
        <p:nvSpPr>
          <p:cNvPr id="17" name="Text 15"/>
          <p:cNvSpPr txBox="1"/>
          <p:nvPr/>
        </p:nvSpPr>
        <p:spPr>
          <a:xfrm>
            <a:off x="6263640" y="4114800"/>
            <a:ext cx="2468880" cy="502920"/>
          </a:xfrm>
          <a:prstGeom prst="rect">
            <a:avLst/>
          </a:prstGeom>
          <a:noFill/>
          <a:ln/>
        </p:spPr>
        <p:txBody>
          <a:bodyPr wrap="square" lIns="0" tIns="0" rIns="0" bIns="0" rtlCol="0" anchor="ctr"/>
          <a:lstStyle/>
          <a:p>
            <a:pPr algn="ctr" indent="0" marL="0">
              <a:buNone/>
            </a:pPr>
            <a:r>
              <a:rPr lang="en-US" sz="1350" dirty="0">
                <a:solidFill>
                  <a:srgbClr val="1B2A4A"/>
                </a:solidFill>
                <a:latin typeface="Calibri" pitchFamily="34" charset="0"/>
                <a:ea typeface="Calibri" pitchFamily="34" charset="-122"/>
                <a:cs typeface="Calibri" pitchFamily="34" charset="-120"/>
              </a:rPr>
              <a:t>Chest pain type</a:t>
            </a:r>
            <a:endParaRPr lang="en-US" sz="1350" dirty="0"/>
          </a:p>
        </p:txBody>
      </p:sp>
      <p:sp>
        <p:nvSpPr>
          <p:cNvPr id="18" name="Shape 16"/>
          <p:cNvSpPr/>
          <p:nvPr/>
        </p:nvSpPr>
        <p:spPr>
          <a:xfrm>
            <a:off x="8961120" y="4114800"/>
            <a:ext cx="2468880" cy="502920"/>
          </a:xfrm>
          <a:prstGeom prst="roundRect">
            <a:avLst>
              <a:gd name="adj" fmla="val 14545"/>
            </a:avLst>
          </a:prstGeom>
          <a:solidFill>
            <a:srgbClr val="EEF3FA"/>
          </a:solidFill>
          <a:ln w="12700">
            <a:solidFill>
              <a:srgbClr val="457B9D"/>
            </a:solidFill>
            <a:prstDash val="solid"/>
          </a:ln>
        </p:spPr>
      </p:sp>
      <p:sp>
        <p:nvSpPr>
          <p:cNvPr id="19" name="Text 17"/>
          <p:cNvSpPr txBox="1"/>
          <p:nvPr/>
        </p:nvSpPr>
        <p:spPr>
          <a:xfrm>
            <a:off x="8961120" y="4114800"/>
            <a:ext cx="2468880" cy="502920"/>
          </a:xfrm>
          <a:prstGeom prst="rect">
            <a:avLst/>
          </a:prstGeom>
          <a:noFill/>
          <a:ln/>
        </p:spPr>
        <p:txBody>
          <a:bodyPr wrap="square" lIns="0" tIns="0" rIns="0" bIns="0" rtlCol="0" anchor="ctr"/>
          <a:lstStyle/>
          <a:p>
            <a:pPr algn="ctr" indent="0" marL="0">
              <a:buNone/>
            </a:pPr>
            <a:r>
              <a:rPr lang="en-US" sz="1350" dirty="0">
                <a:solidFill>
                  <a:srgbClr val="1B2A4A"/>
                </a:solidFill>
                <a:latin typeface="Calibri" pitchFamily="34" charset="0"/>
                <a:ea typeface="Calibri" pitchFamily="34" charset="-122"/>
                <a:cs typeface="Calibri" pitchFamily="34" charset="-120"/>
              </a:rPr>
              <a:t>Blood pressure</a:t>
            </a:r>
            <a:endParaRPr lang="en-US" sz="1350" dirty="0"/>
          </a:p>
        </p:txBody>
      </p:sp>
      <p:sp>
        <p:nvSpPr>
          <p:cNvPr id="20" name="Shape 18"/>
          <p:cNvSpPr/>
          <p:nvPr/>
        </p:nvSpPr>
        <p:spPr>
          <a:xfrm>
            <a:off x="868680" y="4828032"/>
            <a:ext cx="2468880" cy="502920"/>
          </a:xfrm>
          <a:prstGeom prst="roundRect">
            <a:avLst>
              <a:gd name="adj" fmla="val 14545"/>
            </a:avLst>
          </a:prstGeom>
          <a:solidFill>
            <a:srgbClr val="EEF3FA"/>
          </a:solidFill>
          <a:ln w="12700">
            <a:solidFill>
              <a:srgbClr val="457B9D"/>
            </a:solidFill>
            <a:prstDash val="solid"/>
          </a:ln>
        </p:spPr>
      </p:sp>
      <p:sp>
        <p:nvSpPr>
          <p:cNvPr id="21" name="Text 19"/>
          <p:cNvSpPr txBox="1"/>
          <p:nvPr/>
        </p:nvSpPr>
        <p:spPr>
          <a:xfrm>
            <a:off x="868680" y="4828032"/>
            <a:ext cx="2468880" cy="502920"/>
          </a:xfrm>
          <a:prstGeom prst="rect">
            <a:avLst/>
          </a:prstGeom>
          <a:noFill/>
          <a:ln/>
        </p:spPr>
        <p:txBody>
          <a:bodyPr wrap="square" lIns="0" tIns="0" rIns="0" bIns="0" rtlCol="0" anchor="ctr"/>
          <a:lstStyle/>
          <a:p>
            <a:pPr algn="ctr" indent="0" marL="0">
              <a:buNone/>
            </a:pPr>
            <a:r>
              <a:rPr lang="en-US" sz="1350" dirty="0">
                <a:solidFill>
                  <a:srgbClr val="1B2A4A"/>
                </a:solidFill>
                <a:latin typeface="Calibri" pitchFamily="34" charset="0"/>
                <a:ea typeface="Calibri" pitchFamily="34" charset="-122"/>
                <a:cs typeface="Calibri" pitchFamily="34" charset="-120"/>
              </a:rPr>
              <a:t>Cholesterol</a:t>
            </a:r>
            <a:endParaRPr lang="en-US" sz="1350" dirty="0"/>
          </a:p>
        </p:txBody>
      </p:sp>
      <p:sp>
        <p:nvSpPr>
          <p:cNvPr id="22" name="Shape 20"/>
          <p:cNvSpPr/>
          <p:nvPr/>
        </p:nvSpPr>
        <p:spPr>
          <a:xfrm>
            <a:off x="3566160" y="4828032"/>
            <a:ext cx="2468880" cy="502920"/>
          </a:xfrm>
          <a:prstGeom prst="roundRect">
            <a:avLst>
              <a:gd name="adj" fmla="val 14545"/>
            </a:avLst>
          </a:prstGeom>
          <a:solidFill>
            <a:srgbClr val="EEF3FA"/>
          </a:solidFill>
          <a:ln w="12700">
            <a:solidFill>
              <a:srgbClr val="457B9D"/>
            </a:solidFill>
            <a:prstDash val="solid"/>
          </a:ln>
        </p:spPr>
      </p:sp>
      <p:sp>
        <p:nvSpPr>
          <p:cNvPr id="23" name="Text 21"/>
          <p:cNvSpPr txBox="1"/>
          <p:nvPr/>
        </p:nvSpPr>
        <p:spPr>
          <a:xfrm>
            <a:off x="3566160" y="4828032"/>
            <a:ext cx="2468880" cy="502920"/>
          </a:xfrm>
          <a:prstGeom prst="rect">
            <a:avLst/>
          </a:prstGeom>
          <a:noFill/>
          <a:ln/>
        </p:spPr>
        <p:txBody>
          <a:bodyPr wrap="square" lIns="0" tIns="0" rIns="0" bIns="0" rtlCol="0" anchor="ctr"/>
          <a:lstStyle/>
          <a:p>
            <a:pPr algn="ctr" indent="0" marL="0">
              <a:buNone/>
            </a:pPr>
            <a:r>
              <a:rPr lang="en-US" sz="1350" dirty="0">
                <a:solidFill>
                  <a:srgbClr val="1B2A4A"/>
                </a:solidFill>
                <a:latin typeface="Calibri" pitchFamily="34" charset="0"/>
                <a:ea typeface="Calibri" pitchFamily="34" charset="-122"/>
                <a:cs typeface="Calibri" pitchFamily="34" charset="-120"/>
              </a:rPr>
              <a:t>Max heart rate</a:t>
            </a:r>
            <a:endParaRPr lang="en-US" sz="1350" dirty="0"/>
          </a:p>
        </p:txBody>
      </p:sp>
      <p:sp>
        <p:nvSpPr>
          <p:cNvPr id="24" name="Shape 22"/>
          <p:cNvSpPr/>
          <p:nvPr/>
        </p:nvSpPr>
        <p:spPr>
          <a:xfrm>
            <a:off x="6263640" y="4828032"/>
            <a:ext cx="2468880" cy="502920"/>
          </a:xfrm>
          <a:prstGeom prst="roundRect">
            <a:avLst>
              <a:gd name="adj" fmla="val 14545"/>
            </a:avLst>
          </a:prstGeom>
          <a:solidFill>
            <a:srgbClr val="EEF3FA"/>
          </a:solidFill>
          <a:ln w="12700">
            <a:solidFill>
              <a:srgbClr val="457B9D"/>
            </a:solidFill>
            <a:prstDash val="solid"/>
          </a:ln>
        </p:spPr>
      </p:sp>
      <p:sp>
        <p:nvSpPr>
          <p:cNvPr id="25" name="Text 23"/>
          <p:cNvSpPr txBox="1"/>
          <p:nvPr/>
        </p:nvSpPr>
        <p:spPr>
          <a:xfrm>
            <a:off x="6263640" y="4828032"/>
            <a:ext cx="2468880" cy="502920"/>
          </a:xfrm>
          <a:prstGeom prst="rect">
            <a:avLst/>
          </a:prstGeom>
          <a:noFill/>
          <a:ln/>
        </p:spPr>
        <p:txBody>
          <a:bodyPr wrap="square" lIns="0" tIns="0" rIns="0" bIns="0" rtlCol="0" anchor="ctr"/>
          <a:lstStyle/>
          <a:p>
            <a:pPr algn="ctr" indent="0" marL="0">
              <a:buNone/>
            </a:pPr>
            <a:r>
              <a:rPr lang="en-US" sz="1350" dirty="0">
                <a:solidFill>
                  <a:srgbClr val="1B2A4A"/>
                </a:solidFill>
                <a:latin typeface="Calibri" pitchFamily="34" charset="0"/>
                <a:ea typeface="Calibri" pitchFamily="34" charset="-122"/>
                <a:cs typeface="Calibri" pitchFamily="34" charset="-120"/>
              </a:rPr>
              <a:t>Blood sugar</a:t>
            </a:r>
            <a:endParaRPr lang="en-US" sz="1350" dirty="0"/>
          </a:p>
        </p:txBody>
      </p:sp>
      <p:sp>
        <p:nvSpPr>
          <p:cNvPr id="26" name="Shape 24"/>
          <p:cNvSpPr/>
          <p:nvPr/>
        </p:nvSpPr>
        <p:spPr>
          <a:xfrm>
            <a:off x="8961120" y="4828032"/>
            <a:ext cx="2468880" cy="502920"/>
          </a:xfrm>
          <a:prstGeom prst="roundRect">
            <a:avLst>
              <a:gd name="adj" fmla="val 14545"/>
            </a:avLst>
          </a:prstGeom>
          <a:solidFill>
            <a:srgbClr val="EEF3FA"/>
          </a:solidFill>
          <a:ln w="12700">
            <a:solidFill>
              <a:srgbClr val="457B9D"/>
            </a:solidFill>
            <a:prstDash val="solid"/>
          </a:ln>
        </p:spPr>
      </p:sp>
      <p:sp>
        <p:nvSpPr>
          <p:cNvPr id="27" name="Text 25"/>
          <p:cNvSpPr txBox="1"/>
          <p:nvPr/>
        </p:nvSpPr>
        <p:spPr>
          <a:xfrm>
            <a:off x="8961120" y="4828032"/>
            <a:ext cx="2468880" cy="502920"/>
          </a:xfrm>
          <a:prstGeom prst="rect">
            <a:avLst/>
          </a:prstGeom>
          <a:noFill/>
          <a:ln/>
        </p:spPr>
        <p:txBody>
          <a:bodyPr wrap="square" lIns="0" tIns="0" rIns="0" bIns="0" rtlCol="0" anchor="ctr"/>
          <a:lstStyle/>
          <a:p>
            <a:pPr algn="ctr" indent="0" marL="0">
              <a:buNone/>
            </a:pPr>
            <a:r>
              <a:rPr lang="en-US" sz="1350" dirty="0">
                <a:solidFill>
                  <a:srgbClr val="1B2A4A"/>
                </a:solidFill>
                <a:latin typeface="Calibri" pitchFamily="34" charset="0"/>
                <a:ea typeface="Calibri" pitchFamily="34" charset="-122"/>
                <a:cs typeface="Calibri" pitchFamily="34" charset="-120"/>
              </a:rPr>
              <a:t>ECG result</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0972800" cy="274320"/>
          </a:xfrm>
          <a:prstGeom prst="rect">
            <a:avLst/>
          </a:prstGeom>
          <a:noFill/>
          <a:ln/>
        </p:spPr>
        <p:txBody>
          <a:bodyPr wrap="square" lIns="0" tIns="0" rIns="0" bIns="0" rtlCol="0" anchor="ctr"/>
          <a:lstStyle/>
          <a:p>
            <a:pPr indent="0" marL="0">
              <a:buNone/>
            </a:pPr>
            <a:r>
              <a:rPr lang="en-US" sz="1200" b="1" spc="300" kern="0" dirty="0">
                <a:solidFill>
                  <a:srgbClr val="E63946"/>
                </a:solidFill>
                <a:latin typeface="Calibri" pitchFamily="34" charset="0"/>
                <a:ea typeface="Calibri" pitchFamily="34" charset="-122"/>
                <a:cs typeface="Calibri" pitchFamily="34" charset="-120"/>
              </a:rPr>
              <a:t>STEP 1 — PREPARING THE DATA</a:t>
            </a:r>
            <a:endParaRPr lang="en-US" sz="12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Cleaning before learning</a:t>
            </a:r>
            <a:endParaRPr lang="en-US" sz="3000" dirty="0"/>
          </a:p>
        </p:txBody>
      </p:sp>
      <p:sp>
        <p:nvSpPr>
          <p:cNvPr id="4" name="Shape 2"/>
          <p:cNvSpPr/>
          <p:nvPr/>
        </p:nvSpPr>
        <p:spPr>
          <a:xfrm>
            <a:off x="548640" y="1737360"/>
            <a:ext cx="3520440" cy="2926080"/>
          </a:xfrm>
          <a:prstGeom prst="roundRect">
            <a:avLst>
              <a:gd name="adj" fmla="val 2813"/>
            </a:avLst>
          </a:prstGeom>
          <a:solidFill>
            <a:srgbClr val="FFFFFF"/>
          </a:solidFill>
          <a:ln w="19050">
            <a:solidFill>
              <a:srgbClr val="2A9D8F"/>
            </a:solidFill>
            <a:prstDash val="solid"/>
          </a:ln>
        </p:spPr>
      </p:sp>
      <p:sp>
        <p:nvSpPr>
          <p:cNvPr id="5" name="Shape 3"/>
          <p:cNvSpPr/>
          <p:nvPr/>
        </p:nvSpPr>
        <p:spPr>
          <a:xfrm>
            <a:off x="1920240" y="2011680"/>
            <a:ext cx="777240" cy="777240"/>
          </a:xfrm>
          <a:prstGeom prst="ellipse">
            <a:avLst/>
          </a:prstGeom>
          <a:solidFill>
            <a:srgbClr val="2A9D8F"/>
          </a:solidFill>
          <a:ln w="12700">
            <a:solidFill>
              <a:srgbClr val="2A9D8F"/>
            </a:solidFill>
            <a:prstDash val="solid"/>
          </a:ln>
        </p:spPr>
      </p:sp>
      <p:sp>
        <p:nvSpPr>
          <p:cNvPr id="6" name="Text 4"/>
          <p:cNvSpPr txBox="1"/>
          <p:nvPr/>
        </p:nvSpPr>
        <p:spPr>
          <a:xfrm>
            <a:off x="1920240" y="2011680"/>
            <a:ext cx="777240" cy="77724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1</a:t>
            </a:r>
            <a:endParaRPr lang="en-US" sz="2600" dirty="0"/>
          </a:p>
        </p:txBody>
      </p:sp>
      <p:sp>
        <p:nvSpPr>
          <p:cNvPr id="7" name="Text 5"/>
          <p:cNvSpPr txBox="1"/>
          <p:nvPr/>
        </p:nvSpPr>
        <p:spPr>
          <a:xfrm>
            <a:off x="731520" y="2971800"/>
            <a:ext cx="3154680" cy="457200"/>
          </a:xfrm>
          <a:prstGeom prst="rect">
            <a:avLst/>
          </a:prstGeom>
          <a:noFill/>
          <a:ln/>
        </p:spPr>
        <p:txBody>
          <a:bodyPr wrap="square" lIns="0" tIns="0" rIns="0" bIns="0" rtlCol="0" anchor="ctr"/>
          <a:lstStyle/>
          <a:p>
            <a:pPr algn="ctr" indent="0" marL="0">
              <a:buNone/>
            </a:pPr>
            <a:r>
              <a:rPr lang="en-US" sz="1800" b="1" dirty="0">
                <a:solidFill>
                  <a:srgbClr val="1B2A4A"/>
                </a:solidFill>
                <a:latin typeface="Cambria" pitchFamily="34" charset="0"/>
                <a:ea typeface="Cambria" pitchFamily="34" charset="-122"/>
                <a:cs typeface="Cambria" pitchFamily="34" charset="-120"/>
              </a:rPr>
              <a:t>Scale the numbers</a:t>
            </a:r>
            <a:endParaRPr lang="en-US" sz="1800" dirty="0"/>
          </a:p>
        </p:txBody>
      </p:sp>
      <p:sp>
        <p:nvSpPr>
          <p:cNvPr id="8" name="Text 6"/>
          <p:cNvSpPr txBox="1"/>
          <p:nvPr/>
        </p:nvSpPr>
        <p:spPr>
          <a:xfrm>
            <a:off x="868680" y="3520440"/>
            <a:ext cx="2880360" cy="1005840"/>
          </a:xfrm>
          <a:prstGeom prst="rect">
            <a:avLst/>
          </a:prstGeom>
          <a:noFill/>
          <a:ln/>
        </p:spPr>
        <p:txBody>
          <a:bodyPr wrap="square" lIns="0" tIns="0" rIns="0" bIns="0" rtlCol="0" anchor="t"/>
          <a:lstStyle/>
          <a:p>
            <a:pPr algn="ctr" indent="0" marL="0">
              <a:buNone/>
            </a:pPr>
            <a:r>
              <a:rPr lang="en-US" sz="1450" dirty="0">
                <a:solidFill>
                  <a:srgbClr val="20262E"/>
                </a:solidFill>
                <a:latin typeface="Calibri" pitchFamily="34" charset="0"/>
                <a:ea typeface="Calibri" pitchFamily="34" charset="-122"/>
                <a:cs typeface="Calibri" pitchFamily="34" charset="-120"/>
              </a:rPr>
              <a:t>Put age, BP, cholesterol on the same range.</a:t>
            </a:r>
            <a:endParaRPr lang="en-US" sz="1450" dirty="0"/>
          </a:p>
        </p:txBody>
      </p:sp>
      <p:sp>
        <p:nvSpPr>
          <p:cNvPr id="9" name="Text 7"/>
          <p:cNvSpPr txBox="1"/>
          <p:nvPr/>
        </p:nvSpPr>
        <p:spPr>
          <a:xfrm>
            <a:off x="4160520" y="3017520"/>
            <a:ext cx="457200" cy="365760"/>
          </a:xfrm>
          <a:prstGeom prst="rect">
            <a:avLst/>
          </a:prstGeom>
          <a:noFill/>
          <a:ln/>
        </p:spPr>
        <p:txBody>
          <a:bodyPr wrap="square" lIns="0" tIns="0" rIns="0" bIns="0" rtlCol="0" anchor="ctr"/>
          <a:lstStyle/>
          <a:p>
            <a:pPr algn="ctr" indent="0" marL="0">
              <a:buNone/>
            </a:pPr>
            <a:r>
              <a:rPr lang="en-US" sz="2400" dirty="0">
                <a:solidFill>
                  <a:srgbClr val="5B6672"/>
                </a:solidFill>
                <a:latin typeface="Calibri" pitchFamily="34" charset="0"/>
                <a:ea typeface="Calibri" pitchFamily="34" charset="-122"/>
                <a:cs typeface="Calibri" pitchFamily="34" charset="-120"/>
              </a:rPr>
              <a:t>→</a:t>
            </a:r>
            <a:endParaRPr lang="en-US" sz="2400" dirty="0"/>
          </a:p>
        </p:txBody>
      </p:sp>
      <p:sp>
        <p:nvSpPr>
          <p:cNvPr id="10" name="Shape 8"/>
          <p:cNvSpPr/>
          <p:nvPr/>
        </p:nvSpPr>
        <p:spPr>
          <a:xfrm>
            <a:off x="4343400" y="1737360"/>
            <a:ext cx="3520440" cy="2926080"/>
          </a:xfrm>
          <a:prstGeom prst="roundRect">
            <a:avLst>
              <a:gd name="adj" fmla="val 2813"/>
            </a:avLst>
          </a:prstGeom>
          <a:solidFill>
            <a:srgbClr val="FFFFFF"/>
          </a:solidFill>
          <a:ln w="19050">
            <a:solidFill>
              <a:srgbClr val="457B9D"/>
            </a:solidFill>
            <a:prstDash val="solid"/>
          </a:ln>
        </p:spPr>
      </p:sp>
      <p:sp>
        <p:nvSpPr>
          <p:cNvPr id="11" name="Shape 9"/>
          <p:cNvSpPr/>
          <p:nvPr/>
        </p:nvSpPr>
        <p:spPr>
          <a:xfrm>
            <a:off x="5715000" y="2011680"/>
            <a:ext cx="777240" cy="777240"/>
          </a:xfrm>
          <a:prstGeom prst="ellipse">
            <a:avLst/>
          </a:prstGeom>
          <a:solidFill>
            <a:srgbClr val="457B9D"/>
          </a:solidFill>
          <a:ln w="12700">
            <a:solidFill>
              <a:srgbClr val="457B9D"/>
            </a:solidFill>
            <a:prstDash val="solid"/>
          </a:ln>
        </p:spPr>
      </p:sp>
      <p:sp>
        <p:nvSpPr>
          <p:cNvPr id="12" name="Text 10"/>
          <p:cNvSpPr txBox="1"/>
          <p:nvPr/>
        </p:nvSpPr>
        <p:spPr>
          <a:xfrm>
            <a:off x="5715000" y="2011680"/>
            <a:ext cx="777240" cy="77724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2</a:t>
            </a:r>
            <a:endParaRPr lang="en-US" sz="2600" dirty="0"/>
          </a:p>
        </p:txBody>
      </p:sp>
      <p:sp>
        <p:nvSpPr>
          <p:cNvPr id="13" name="Text 11"/>
          <p:cNvSpPr txBox="1"/>
          <p:nvPr/>
        </p:nvSpPr>
        <p:spPr>
          <a:xfrm>
            <a:off x="4526280" y="2971800"/>
            <a:ext cx="3154680" cy="457200"/>
          </a:xfrm>
          <a:prstGeom prst="rect">
            <a:avLst/>
          </a:prstGeom>
          <a:noFill/>
          <a:ln/>
        </p:spPr>
        <p:txBody>
          <a:bodyPr wrap="square" lIns="0" tIns="0" rIns="0" bIns="0" rtlCol="0" anchor="ctr"/>
          <a:lstStyle/>
          <a:p>
            <a:pPr algn="ctr" indent="0" marL="0">
              <a:buNone/>
            </a:pPr>
            <a:r>
              <a:rPr lang="en-US" sz="1800" b="1" dirty="0">
                <a:solidFill>
                  <a:srgbClr val="1B2A4A"/>
                </a:solidFill>
                <a:latin typeface="Cambria" pitchFamily="34" charset="0"/>
                <a:ea typeface="Cambria" pitchFamily="34" charset="-122"/>
                <a:cs typeface="Cambria" pitchFamily="34" charset="-120"/>
              </a:rPr>
              <a:t>Encode categories</a:t>
            </a:r>
            <a:endParaRPr lang="en-US" sz="1800" dirty="0"/>
          </a:p>
        </p:txBody>
      </p:sp>
      <p:sp>
        <p:nvSpPr>
          <p:cNvPr id="14" name="Text 12"/>
          <p:cNvSpPr txBox="1"/>
          <p:nvPr/>
        </p:nvSpPr>
        <p:spPr>
          <a:xfrm>
            <a:off x="4663440" y="3520440"/>
            <a:ext cx="2880360" cy="1005840"/>
          </a:xfrm>
          <a:prstGeom prst="rect">
            <a:avLst/>
          </a:prstGeom>
          <a:noFill/>
          <a:ln/>
        </p:spPr>
        <p:txBody>
          <a:bodyPr wrap="square" lIns="0" tIns="0" rIns="0" bIns="0" rtlCol="0" anchor="t"/>
          <a:lstStyle/>
          <a:p>
            <a:pPr algn="ctr" indent="0" marL="0">
              <a:buNone/>
            </a:pPr>
            <a:r>
              <a:rPr lang="en-US" sz="1450" dirty="0">
                <a:solidFill>
                  <a:srgbClr val="20262E"/>
                </a:solidFill>
                <a:latin typeface="Calibri" pitchFamily="34" charset="0"/>
                <a:ea typeface="Calibri" pitchFamily="34" charset="-122"/>
                <a:cs typeface="Calibri" pitchFamily="34" charset="-120"/>
              </a:rPr>
              <a:t>Turn labels like chest-pain type into 0/1 columns.</a:t>
            </a:r>
            <a:endParaRPr lang="en-US" sz="1450" dirty="0"/>
          </a:p>
        </p:txBody>
      </p:sp>
      <p:sp>
        <p:nvSpPr>
          <p:cNvPr id="15" name="Text 13"/>
          <p:cNvSpPr txBox="1"/>
          <p:nvPr/>
        </p:nvSpPr>
        <p:spPr>
          <a:xfrm>
            <a:off x="7955280" y="3017520"/>
            <a:ext cx="457200" cy="365760"/>
          </a:xfrm>
          <a:prstGeom prst="rect">
            <a:avLst/>
          </a:prstGeom>
          <a:noFill/>
          <a:ln/>
        </p:spPr>
        <p:txBody>
          <a:bodyPr wrap="square" lIns="0" tIns="0" rIns="0" bIns="0" rtlCol="0" anchor="ctr"/>
          <a:lstStyle/>
          <a:p>
            <a:pPr algn="ctr" indent="0" marL="0">
              <a:buNone/>
            </a:pPr>
            <a:r>
              <a:rPr lang="en-US" sz="2400" dirty="0">
                <a:solidFill>
                  <a:srgbClr val="5B6672"/>
                </a:solidFill>
                <a:latin typeface="Calibri" pitchFamily="34" charset="0"/>
                <a:ea typeface="Calibri" pitchFamily="34" charset="-122"/>
                <a:cs typeface="Calibri" pitchFamily="34" charset="-120"/>
              </a:rPr>
              <a:t>→</a:t>
            </a:r>
            <a:endParaRPr lang="en-US" sz="2400" dirty="0"/>
          </a:p>
        </p:txBody>
      </p:sp>
      <p:sp>
        <p:nvSpPr>
          <p:cNvPr id="16" name="Shape 14"/>
          <p:cNvSpPr/>
          <p:nvPr/>
        </p:nvSpPr>
        <p:spPr>
          <a:xfrm>
            <a:off x="8138160" y="1737360"/>
            <a:ext cx="3520440" cy="2926080"/>
          </a:xfrm>
          <a:prstGeom prst="roundRect">
            <a:avLst>
              <a:gd name="adj" fmla="val 2813"/>
            </a:avLst>
          </a:prstGeom>
          <a:solidFill>
            <a:srgbClr val="FFFFFF"/>
          </a:solidFill>
          <a:ln w="19050">
            <a:solidFill>
              <a:srgbClr val="E9A23B"/>
            </a:solidFill>
            <a:prstDash val="solid"/>
          </a:ln>
        </p:spPr>
      </p:sp>
      <p:sp>
        <p:nvSpPr>
          <p:cNvPr id="17" name="Shape 15"/>
          <p:cNvSpPr/>
          <p:nvPr/>
        </p:nvSpPr>
        <p:spPr>
          <a:xfrm>
            <a:off x="9509760" y="2011680"/>
            <a:ext cx="777240" cy="777240"/>
          </a:xfrm>
          <a:prstGeom prst="ellipse">
            <a:avLst/>
          </a:prstGeom>
          <a:solidFill>
            <a:srgbClr val="E9A23B"/>
          </a:solidFill>
          <a:ln w="12700">
            <a:solidFill>
              <a:srgbClr val="E9A23B"/>
            </a:solidFill>
            <a:prstDash val="solid"/>
          </a:ln>
        </p:spPr>
      </p:sp>
      <p:sp>
        <p:nvSpPr>
          <p:cNvPr id="18" name="Text 16"/>
          <p:cNvSpPr txBox="1"/>
          <p:nvPr/>
        </p:nvSpPr>
        <p:spPr>
          <a:xfrm>
            <a:off x="9509760" y="2011680"/>
            <a:ext cx="777240" cy="77724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3</a:t>
            </a:r>
            <a:endParaRPr lang="en-US" sz="2600" dirty="0"/>
          </a:p>
        </p:txBody>
      </p:sp>
      <p:sp>
        <p:nvSpPr>
          <p:cNvPr id="19" name="Text 17"/>
          <p:cNvSpPr txBox="1"/>
          <p:nvPr/>
        </p:nvSpPr>
        <p:spPr>
          <a:xfrm>
            <a:off x="8321040" y="2971800"/>
            <a:ext cx="3154680" cy="457200"/>
          </a:xfrm>
          <a:prstGeom prst="rect">
            <a:avLst/>
          </a:prstGeom>
          <a:noFill/>
          <a:ln/>
        </p:spPr>
        <p:txBody>
          <a:bodyPr wrap="square" lIns="0" tIns="0" rIns="0" bIns="0" rtlCol="0" anchor="ctr"/>
          <a:lstStyle/>
          <a:p>
            <a:pPr algn="ctr" indent="0" marL="0">
              <a:buNone/>
            </a:pPr>
            <a:r>
              <a:rPr lang="en-US" sz="1800" b="1" dirty="0">
                <a:solidFill>
                  <a:srgbClr val="1B2A4A"/>
                </a:solidFill>
                <a:latin typeface="Cambria" pitchFamily="34" charset="0"/>
                <a:ea typeface="Cambria" pitchFamily="34" charset="-122"/>
                <a:cs typeface="Cambria" pitchFamily="34" charset="-120"/>
              </a:rPr>
              <a:t>Split the data</a:t>
            </a:r>
            <a:endParaRPr lang="en-US" sz="1800" dirty="0"/>
          </a:p>
        </p:txBody>
      </p:sp>
      <p:sp>
        <p:nvSpPr>
          <p:cNvPr id="20" name="Text 18"/>
          <p:cNvSpPr txBox="1"/>
          <p:nvPr/>
        </p:nvSpPr>
        <p:spPr>
          <a:xfrm>
            <a:off x="8458200" y="3520440"/>
            <a:ext cx="2880360" cy="1005840"/>
          </a:xfrm>
          <a:prstGeom prst="rect">
            <a:avLst/>
          </a:prstGeom>
          <a:noFill/>
          <a:ln/>
        </p:spPr>
        <p:txBody>
          <a:bodyPr wrap="square" lIns="0" tIns="0" rIns="0" bIns="0" rtlCol="0" anchor="t"/>
          <a:lstStyle/>
          <a:p>
            <a:pPr algn="ctr" indent="0" marL="0">
              <a:buNone/>
            </a:pPr>
            <a:r>
              <a:rPr lang="en-US" sz="1450" dirty="0">
                <a:solidFill>
                  <a:srgbClr val="20262E"/>
                </a:solidFill>
                <a:latin typeface="Calibri" pitchFamily="34" charset="0"/>
                <a:ea typeface="Calibri" pitchFamily="34" charset="-122"/>
                <a:cs typeface="Calibri" pitchFamily="34" charset="-120"/>
              </a:rPr>
              <a:t>70% learn · 15% check · 15% final hidden test.</a:t>
            </a:r>
            <a:endParaRPr lang="en-US" sz="1450" dirty="0"/>
          </a:p>
        </p:txBody>
      </p:sp>
      <p:sp>
        <p:nvSpPr>
          <p:cNvPr id="21" name="Shape 19"/>
          <p:cNvSpPr/>
          <p:nvPr/>
        </p:nvSpPr>
        <p:spPr>
          <a:xfrm>
            <a:off x="548640" y="4983480"/>
            <a:ext cx="11091672" cy="1097280"/>
          </a:xfrm>
          <a:prstGeom prst="roundRect">
            <a:avLst>
              <a:gd name="adj" fmla="val 7500"/>
            </a:avLst>
          </a:prstGeom>
          <a:solidFill>
            <a:srgbClr val="FFF6EA"/>
          </a:solidFill>
          <a:ln w="15875">
            <a:solidFill>
              <a:srgbClr val="E9A23B"/>
            </a:solidFill>
            <a:prstDash val="solid"/>
          </a:ln>
        </p:spPr>
      </p:sp>
      <p:sp>
        <p:nvSpPr>
          <p:cNvPr id="22" name="Text 20"/>
          <p:cNvSpPr txBox="1"/>
          <p:nvPr/>
        </p:nvSpPr>
        <p:spPr>
          <a:xfrm>
            <a:off x="822960" y="4983480"/>
            <a:ext cx="10515600" cy="1097280"/>
          </a:xfrm>
          <a:prstGeom prst="rect">
            <a:avLst/>
          </a:prstGeom>
          <a:noFill/>
          <a:ln/>
        </p:spPr>
        <p:txBody>
          <a:bodyPr wrap="square" lIns="0" tIns="0" rIns="0" bIns="0" rtlCol="0" anchor="ctr"/>
          <a:lstStyle/>
          <a:p>
            <a:pPr indent="0" marL="0">
              <a:buNone/>
            </a:pPr>
            <a:r>
              <a:rPr lang="en-US" sz="1500" b="1" dirty="0">
                <a:solidFill>
                  <a:srgbClr val="E9A23B"/>
                </a:solidFill>
                <a:latin typeface="Calibri" pitchFamily="34" charset="0"/>
                <a:ea typeface="Calibri" pitchFamily="34" charset="-122"/>
                <a:cs typeface="Calibri" pitchFamily="34" charset="-120"/>
              </a:rPr>
              <a:t>In simple words:  </a:t>
            </a:r>
            <a:pPr indent="0" marL="0">
              <a:buNone/>
            </a:pPr>
            <a:r>
              <a:rPr lang="en-US" sz="1500" dirty="0">
                <a:solidFill>
                  <a:srgbClr val="20262E"/>
                </a:solidFill>
                <a:latin typeface="Calibri" pitchFamily="34" charset="0"/>
                <a:ea typeface="Calibri" pitchFamily="34" charset="-122"/>
                <a:cs typeface="Calibri" pitchFamily="34" charset="-120"/>
              </a:rPr>
              <a:t>Raw data is messy. We tidy it so every feature is comparable, then keep part of it hidden to test the model fairly.</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0972800" cy="274320"/>
          </a:xfrm>
          <a:prstGeom prst="rect">
            <a:avLst/>
          </a:prstGeom>
          <a:noFill/>
          <a:ln/>
        </p:spPr>
        <p:txBody>
          <a:bodyPr wrap="square" lIns="0" tIns="0" rIns="0" bIns="0" rtlCol="0" anchor="ctr"/>
          <a:lstStyle/>
          <a:p>
            <a:pPr indent="0" marL="0">
              <a:buNone/>
            </a:pPr>
            <a:r>
              <a:rPr lang="en-US" sz="1200" b="1" spc="300" kern="0" dirty="0">
                <a:solidFill>
                  <a:srgbClr val="E63946"/>
                </a:solidFill>
                <a:latin typeface="Calibri" pitchFamily="34" charset="0"/>
                <a:ea typeface="Calibri" pitchFamily="34" charset="-122"/>
                <a:cs typeface="Calibri" pitchFamily="34" charset="-120"/>
              </a:rPr>
              <a:t>STEP 2 — THE MODEL</a:t>
            </a:r>
            <a:endParaRPr lang="en-US" sz="12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A simple neural network</a:t>
            </a:r>
            <a:endParaRPr lang="en-US" sz="3000" dirty="0"/>
          </a:p>
        </p:txBody>
      </p:sp>
      <p:sp>
        <p:nvSpPr>
          <p:cNvPr id="4" name="Shape 2"/>
          <p:cNvSpPr/>
          <p:nvPr/>
        </p:nvSpPr>
        <p:spPr>
          <a:xfrm>
            <a:off x="699516" y="2103120"/>
            <a:ext cx="1828800" cy="1828800"/>
          </a:xfrm>
          <a:prstGeom prst="roundRect">
            <a:avLst>
              <a:gd name="adj" fmla="val 4500"/>
            </a:avLst>
          </a:prstGeom>
          <a:solidFill>
            <a:srgbClr val="FFFFFF"/>
          </a:solidFill>
          <a:ln w="19050">
            <a:solidFill>
              <a:srgbClr val="457B9D"/>
            </a:solidFill>
            <a:prstDash val="solid"/>
          </a:ln>
        </p:spPr>
      </p:sp>
      <p:sp>
        <p:nvSpPr>
          <p:cNvPr id="5" name="Text 3"/>
          <p:cNvSpPr txBox="1"/>
          <p:nvPr/>
        </p:nvSpPr>
        <p:spPr>
          <a:xfrm>
            <a:off x="699516" y="2304288"/>
            <a:ext cx="1828800" cy="411480"/>
          </a:xfrm>
          <a:prstGeom prst="rect">
            <a:avLst/>
          </a:prstGeom>
          <a:noFill/>
          <a:ln/>
        </p:spPr>
        <p:txBody>
          <a:bodyPr wrap="square" lIns="0" tIns="0" rIns="0" bIns="0" rtlCol="0" anchor="ctr"/>
          <a:lstStyle/>
          <a:p>
            <a:pPr algn="ctr" indent="0" marL="0">
              <a:buNone/>
            </a:pPr>
            <a:r>
              <a:rPr lang="en-US" sz="1600" b="1" dirty="0">
                <a:solidFill>
                  <a:srgbClr val="457B9D"/>
                </a:solidFill>
                <a:latin typeface="Cambria" pitchFamily="34" charset="0"/>
                <a:ea typeface="Cambria" pitchFamily="34" charset="-122"/>
                <a:cs typeface="Cambria" pitchFamily="34" charset="-120"/>
              </a:rPr>
              <a:t>Input</a:t>
            </a:r>
            <a:endParaRPr lang="en-US" sz="1600" dirty="0"/>
          </a:p>
        </p:txBody>
      </p:sp>
      <p:sp>
        <p:nvSpPr>
          <p:cNvPr id="6" name="Text 4"/>
          <p:cNvSpPr txBox="1"/>
          <p:nvPr/>
        </p:nvSpPr>
        <p:spPr>
          <a:xfrm>
            <a:off x="745236" y="2788920"/>
            <a:ext cx="1737360" cy="914400"/>
          </a:xfrm>
          <a:prstGeom prst="rect">
            <a:avLst/>
          </a:prstGeom>
          <a:noFill/>
          <a:ln/>
        </p:spPr>
        <p:txBody>
          <a:bodyPr wrap="square" lIns="0" tIns="0" rIns="0" bIns="0" rtlCol="0" anchor="t"/>
          <a:lstStyle/>
          <a:p>
            <a:pPr algn="ctr" indent="0" marL="0">
              <a:buNone/>
            </a:pPr>
            <a:r>
              <a:rPr lang="en-US" sz="1250" dirty="0">
                <a:solidFill>
                  <a:srgbClr val="20262E"/>
                </a:solidFill>
                <a:latin typeface="Calibri" pitchFamily="34" charset="0"/>
                <a:ea typeface="Calibri" pitchFamily="34" charset="-122"/>
                <a:cs typeface="Calibri" pitchFamily="34" charset="-120"/>
              </a:rPr>
              <a:t>13 features</a:t>
            </a:r>
            <a:endParaRPr lang="en-US" sz="1250" dirty="0"/>
          </a:p>
          <a:p>
            <a:pPr algn="ctr" indent="0" marL="0">
              <a:buNone/>
            </a:pPr>
            <a:r>
              <a:rPr lang="en-US" sz="1250" dirty="0">
                <a:solidFill>
                  <a:srgbClr val="20262E"/>
                </a:solidFill>
                <a:latin typeface="Calibri" pitchFamily="34" charset="0"/>
                <a:ea typeface="Calibri" pitchFamily="34" charset="-122"/>
                <a:cs typeface="Calibri" pitchFamily="34" charset="-120"/>
              </a:rPr>
              <a:t>(27 after encoding)</a:t>
            </a:r>
            <a:endParaRPr lang="en-US" sz="1250" dirty="0"/>
          </a:p>
        </p:txBody>
      </p:sp>
      <p:sp>
        <p:nvSpPr>
          <p:cNvPr id="7" name="Text 5"/>
          <p:cNvSpPr txBox="1"/>
          <p:nvPr/>
        </p:nvSpPr>
        <p:spPr>
          <a:xfrm>
            <a:off x="2528316" y="2834640"/>
            <a:ext cx="457200" cy="365760"/>
          </a:xfrm>
          <a:prstGeom prst="rect">
            <a:avLst/>
          </a:prstGeom>
          <a:noFill/>
          <a:ln/>
        </p:spPr>
        <p:txBody>
          <a:bodyPr wrap="square" lIns="0" tIns="0" rIns="0" bIns="0" rtlCol="0" anchor="ctr"/>
          <a:lstStyle/>
          <a:p>
            <a:pPr algn="ctr" indent="0" marL="0">
              <a:buNone/>
            </a:pPr>
            <a:r>
              <a:rPr lang="en-US" sz="2400" dirty="0">
                <a:solidFill>
                  <a:srgbClr val="5B6672"/>
                </a:solidFill>
                <a:latin typeface="Calibri" pitchFamily="34" charset="0"/>
                <a:ea typeface="Calibri" pitchFamily="34" charset="-122"/>
                <a:cs typeface="Calibri" pitchFamily="34" charset="-120"/>
              </a:rPr>
              <a:t>→</a:t>
            </a:r>
            <a:endParaRPr lang="en-US" sz="2400" dirty="0"/>
          </a:p>
        </p:txBody>
      </p:sp>
      <p:sp>
        <p:nvSpPr>
          <p:cNvPr id="8" name="Shape 6"/>
          <p:cNvSpPr/>
          <p:nvPr/>
        </p:nvSpPr>
        <p:spPr>
          <a:xfrm>
            <a:off x="2939796" y="2103120"/>
            <a:ext cx="1828800" cy="1828800"/>
          </a:xfrm>
          <a:prstGeom prst="roundRect">
            <a:avLst>
              <a:gd name="adj" fmla="val 4500"/>
            </a:avLst>
          </a:prstGeom>
          <a:solidFill>
            <a:srgbClr val="FFFFFF"/>
          </a:solidFill>
          <a:ln w="19050">
            <a:solidFill>
              <a:srgbClr val="1B2A4A"/>
            </a:solidFill>
            <a:prstDash val="solid"/>
          </a:ln>
        </p:spPr>
      </p:sp>
      <p:sp>
        <p:nvSpPr>
          <p:cNvPr id="9" name="Text 7"/>
          <p:cNvSpPr txBox="1"/>
          <p:nvPr/>
        </p:nvSpPr>
        <p:spPr>
          <a:xfrm>
            <a:off x="2939796" y="2304288"/>
            <a:ext cx="1828800" cy="41148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Hidden 1</a:t>
            </a:r>
            <a:endParaRPr lang="en-US" sz="1600" dirty="0"/>
          </a:p>
        </p:txBody>
      </p:sp>
      <p:sp>
        <p:nvSpPr>
          <p:cNvPr id="10" name="Text 8"/>
          <p:cNvSpPr txBox="1"/>
          <p:nvPr/>
        </p:nvSpPr>
        <p:spPr>
          <a:xfrm>
            <a:off x="2985516" y="2788920"/>
            <a:ext cx="1737360" cy="914400"/>
          </a:xfrm>
          <a:prstGeom prst="rect">
            <a:avLst/>
          </a:prstGeom>
          <a:noFill/>
          <a:ln/>
        </p:spPr>
        <p:txBody>
          <a:bodyPr wrap="square" lIns="0" tIns="0" rIns="0" bIns="0" rtlCol="0" anchor="t"/>
          <a:lstStyle/>
          <a:p>
            <a:pPr algn="ctr" indent="0" marL="0">
              <a:buNone/>
            </a:pPr>
            <a:r>
              <a:rPr lang="en-US" sz="1250" dirty="0">
                <a:solidFill>
                  <a:srgbClr val="20262E"/>
                </a:solidFill>
                <a:latin typeface="Calibri" pitchFamily="34" charset="0"/>
                <a:ea typeface="Calibri" pitchFamily="34" charset="-122"/>
                <a:cs typeface="Calibri" pitchFamily="34" charset="-120"/>
              </a:rPr>
              <a:t>64 neurons</a:t>
            </a:r>
            <a:endParaRPr lang="en-US" sz="1250" dirty="0"/>
          </a:p>
        </p:txBody>
      </p:sp>
      <p:sp>
        <p:nvSpPr>
          <p:cNvPr id="11" name="Text 9"/>
          <p:cNvSpPr txBox="1"/>
          <p:nvPr/>
        </p:nvSpPr>
        <p:spPr>
          <a:xfrm>
            <a:off x="4768596" y="2834640"/>
            <a:ext cx="457200" cy="365760"/>
          </a:xfrm>
          <a:prstGeom prst="rect">
            <a:avLst/>
          </a:prstGeom>
          <a:noFill/>
          <a:ln/>
        </p:spPr>
        <p:txBody>
          <a:bodyPr wrap="square" lIns="0" tIns="0" rIns="0" bIns="0" rtlCol="0" anchor="ctr"/>
          <a:lstStyle/>
          <a:p>
            <a:pPr algn="ctr" indent="0" marL="0">
              <a:buNone/>
            </a:pPr>
            <a:r>
              <a:rPr lang="en-US" sz="2400" dirty="0">
                <a:solidFill>
                  <a:srgbClr val="5B6672"/>
                </a:solidFill>
                <a:latin typeface="Calibri" pitchFamily="34" charset="0"/>
                <a:ea typeface="Calibri" pitchFamily="34" charset="-122"/>
                <a:cs typeface="Calibri" pitchFamily="34" charset="-120"/>
              </a:rPr>
              <a:t>→</a:t>
            </a:r>
            <a:endParaRPr lang="en-US" sz="2400" dirty="0"/>
          </a:p>
        </p:txBody>
      </p:sp>
      <p:sp>
        <p:nvSpPr>
          <p:cNvPr id="12" name="Shape 10"/>
          <p:cNvSpPr/>
          <p:nvPr/>
        </p:nvSpPr>
        <p:spPr>
          <a:xfrm>
            <a:off x="5180076" y="2103120"/>
            <a:ext cx="1828800" cy="1828800"/>
          </a:xfrm>
          <a:prstGeom prst="roundRect">
            <a:avLst>
              <a:gd name="adj" fmla="val 4500"/>
            </a:avLst>
          </a:prstGeom>
          <a:solidFill>
            <a:srgbClr val="FFFFFF"/>
          </a:solidFill>
          <a:ln w="19050">
            <a:solidFill>
              <a:srgbClr val="1B2A4A"/>
            </a:solidFill>
            <a:prstDash val="solid"/>
          </a:ln>
        </p:spPr>
      </p:sp>
      <p:sp>
        <p:nvSpPr>
          <p:cNvPr id="13" name="Text 11"/>
          <p:cNvSpPr txBox="1"/>
          <p:nvPr/>
        </p:nvSpPr>
        <p:spPr>
          <a:xfrm>
            <a:off x="5180076" y="2304288"/>
            <a:ext cx="1828800" cy="411480"/>
          </a:xfrm>
          <a:prstGeom prst="rect">
            <a:avLst/>
          </a:prstGeom>
          <a:noFill/>
          <a:ln/>
        </p:spPr>
        <p:txBody>
          <a:bodyPr wrap="square" lIns="0" tIns="0" rIns="0" bIns="0" rtlCol="0" anchor="ctr"/>
          <a:lstStyle/>
          <a:p>
            <a:pPr algn="ctr" indent="0" marL="0">
              <a:buNone/>
            </a:pPr>
            <a:r>
              <a:rPr lang="en-US" sz="1600" b="1" dirty="0">
                <a:solidFill>
                  <a:srgbClr val="1B2A4A"/>
                </a:solidFill>
                <a:latin typeface="Cambria" pitchFamily="34" charset="0"/>
                <a:ea typeface="Cambria" pitchFamily="34" charset="-122"/>
                <a:cs typeface="Cambria" pitchFamily="34" charset="-120"/>
              </a:rPr>
              <a:t>Hidden 2</a:t>
            </a:r>
            <a:endParaRPr lang="en-US" sz="1600" dirty="0"/>
          </a:p>
        </p:txBody>
      </p:sp>
      <p:sp>
        <p:nvSpPr>
          <p:cNvPr id="14" name="Text 12"/>
          <p:cNvSpPr txBox="1"/>
          <p:nvPr/>
        </p:nvSpPr>
        <p:spPr>
          <a:xfrm>
            <a:off x="5225796" y="2788920"/>
            <a:ext cx="1737360" cy="914400"/>
          </a:xfrm>
          <a:prstGeom prst="rect">
            <a:avLst/>
          </a:prstGeom>
          <a:noFill/>
          <a:ln/>
        </p:spPr>
        <p:txBody>
          <a:bodyPr wrap="square" lIns="0" tIns="0" rIns="0" bIns="0" rtlCol="0" anchor="t"/>
          <a:lstStyle/>
          <a:p>
            <a:pPr algn="ctr" indent="0" marL="0">
              <a:buNone/>
            </a:pPr>
            <a:r>
              <a:rPr lang="en-US" sz="1250" dirty="0">
                <a:solidFill>
                  <a:srgbClr val="20262E"/>
                </a:solidFill>
                <a:latin typeface="Calibri" pitchFamily="34" charset="0"/>
                <a:ea typeface="Calibri" pitchFamily="34" charset="-122"/>
                <a:cs typeface="Calibri" pitchFamily="34" charset="-120"/>
              </a:rPr>
              <a:t>32 neurons</a:t>
            </a:r>
            <a:endParaRPr lang="en-US" sz="1250" dirty="0"/>
          </a:p>
        </p:txBody>
      </p:sp>
      <p:sp>
        <p:nvSpPr>
          <p:cNvPr id="15" name="Text 13"/>
          <p:cNvSpPr txBox="1"/>
          <p:nvPr/>
        </p:nvSpPr>
        <p:spPr>
          <a:xfrm>
            <a:off x="7008876" y="2834640"/>
            <a:ext cx="457200" cy="365760"/>
          </a:xfrm>
          <a:prstGeom prst="rect">
            <a:avLst/>
          </a:prstGeom>
          <a:noFill/>
          <a:ln/>
        </p:spPr>
        <p:txBody>
          <a:bodyPr wrap="square" lIns="0" tIns="0" rIns="0" bIns="0" rtlCol="0" anchor="ctr"/>
          <a:lstStyle/>
          <a:p>
            <a:pPr algn="ctr" indent="0" marL="0">
              <a:buNone/>
            </a:pPr>
            <a:r>
              <a:rPr lang="en-US" sz="2400" dirty="0">
                <a:solidFill>
                  <a:srgbClr val="5B6672"/>
                </a:solidFill>
                <a:latin typeface="Calibri" pitchFamily="34" charset="0"/>
                <a:ea typeface="Calibri" pitchFamily="34" charset="-122"/>
                <a:cs typeface="Calibri" pitchFamily="34" charset="-120"/>
              </a:rPr>
              <a:t>→</a:t>
            </a:r>
            <a:endParaRPr lang="en-US" sz="2400" dirty="0"/>
          </a:p>
        </p:txBody>
      </p:sp>
      <p:sp>
        <p:nvSpPr>
          <p:cNvPr id="16" name="Shape 14"/>
          <p:cNvSpPr/>
          <p:nvPr/>
        </p:nvSpPr>
        <p:spPr>
          <a:xfrm>
            <a:off x="7420356" y="2103120"/>
            <a:ext cx="1828800" cy="1828800"/>
          </a:xfrm>
          <a:prstGeom prst="roundRect">
            <a:avLst>
              <a:gd name="adj" fmla="val 4500"/>
            </a:avLst>
          </a:prstGeom>
          <a:solidFill>
            <a:srgbClr val="FFFFFF"/>
          </a:solidFill>
          <a:ln w="19050">
            <a:solidFill>
              <a:srgbClr val="E63946"/>
            </a:solidFill>
            <a:prstDash val="solid"/>
          </a:ln>
        </p:spPr>
      </p:sp>
      <p:sp>
        <p:nvSpPr>
          <p:cNvPr id="17" name="Text 15"/>
          <p:cNvSpPr txBox="1"/>
          <p:nvPr/>
        </p:nvSpPr>
        <p:spPr>
          <a:xfrm>
            <a:off x="7420356" y="2304288"/>
            <a:ext cx="1828800" cy="411480"/>
          </a:xfrm>
          <a:prstGeom prst="rect">
            <a:avLst/>
          </a:prstGeom>
          <a:noFill/>
          <a:ln/>
        </p:spPr>
        <p:txBody>
          <a:bodyPr wrap="square" lIns="0" tIns="0" rIns="0" bIns="0" rtlCol="0" anchor="ctr"/>
          <a:lstStyle/>
          <a:p>
            <a:pPr algn="ctr" indent="0" marL="0">
              <a:buNone/>
            </a:pPr>
            <a:r>
              <a:rPr lang="en-US" sz="1600" b="1" dirty="0">
                <a:solidFill>
                  <a:srgbClr val="E63946"/>
                </a:solidFill>
                <a:latin typeface="Cambria" pitchFamily="34" charset="0"/>
                <a:ea typeface="Cambria" pitchFamily="34" charset="-122"/>
                <a:cs typeface="Cambria" pitchFamily="34" charset="-120"/>
              </a:rPr>
              <a:t>Output</a:t>
            </a:r>
            <a:endParaRPr lang="en-US" sz="1600" dirty="0"/>
          </a:p>
        </p:txBody>
      </p:sp>
      <p:sp>
        <p:nvSpPr>
          <p:cNvPr id="18" name="Text 16"/>
          <p:cNvSpPr txBox="1"/>
          <p:nvPr/>
        </p:nvSpPr>
        <p:spPr>
          <a:xfrm>
            <a:off x="7466076" y="2788920"/>
            <a:ext cx="1737360" cy="914400"/>
          </a:xfrm>
          <a:prstGeom prst="rect">
            <a:avLst/>
          </a:prstGeom>
          <a:noFill/>
          <a:ln/>
        </p:spPr>
        <p:txBody>
          <a:bodyPr wrap="square" lIns="0" tIns="0" rIns="0" bIns="0" rtlCol="0" anchor="t"/>
          <a:lstStyle/>
          <a:p>
            <a:pPr algn="ctr" indent="0" marL="0">
              <a:buNone/>
            </a:pPr>
            <a:r>
              <a:rPr lang="en-US" sz="1250" dirty="0">
                <a:solidFill>
                  <a:srgbClr val="20262E"/>
                </a:solidFill>
                <a:latin typeface="Calibri" pitchFamily="34" charset="0"/>
                <a:ea typeface="Calibri" pitchFamily="34" charset="-122"/>
                <a:cs typeface="Calibri" pitchFamily="34" charset="-120"/>
              </a:rPr>
              <a:t>1 number</a:t>
            </a:r>
            <a:endParaRPr lang="en-US" sz="1250" dirty="0"/>
          </a:p>
        </p:txBody>
      </p:sp>
      <p:sp>
        <p:nvSpPr>
          <p:cNvPr id="19" name="Text 17"/>
          <p:cNvSpPr txBox="1"/>
          <p:nvPr/>
        </p:nvSpPr>
        <p:spPr>
          <a:xfrm>
            <a:off x="9249156" y="2834640"/>
            <a:ext cx="457200" cy="365760"/>
          </a:xfrm>
          <a:prstGeom prst="rect">
            <a:avLst/>
          </a:prstGeom>
          <a:noFill/>
          <a:ln/>
        </p:spPr>
        <p:txBody>
          <a:bodyPr wrap="square" lIns="0" tIns="0" rIns="0" bIns="0" rtlCol="0" anchor="ctr"/>
          <a:lstStyle/>
          <a:p>
            <a:pPr algn="ctr" indent="0" marL="0">
              <a:buNone/>
            </a:pPr>
            <a:r>
              <a:rPr lang="en-US" sz="2400" dirty="0">
                <a:solidFill>
                  <a:srgbClr val="5B6672"/>
                </a:solidFill>
                <a:latin typeface="Calibri" pitchFamily="34" charset="0"/>
                <a:ea typeface="Calibri" pitchFamily="34" charset="-122"/>
                <a:cs typeface="Calibri" pitchFamily="34" charset="-120"/>
              </a:rPr>
              <a:t>→</a:t>
            </a:r>
            <a:endParaRPr lang="en-US" sz="2400" dirty="0"/>
          </a:p>
        </p:txBody>
      </p:sp>
      <p:sp>
        <p:nvSpPr>
          <p:cNvPr id="20" name="Shape 18"/>
          <p:cNvSpPr/>
          <p:nvPr/>
        </p:nvSpPr>
        <p:spPr>
          <a:xfrm>
            <a:off x="9660636" y="2103120"/>
            <a:ext cx="1828800" cy="1828800"/>
          </a:xfrm>
          <a:prstGeom prst="roundRect">
            <a:avLst>
              <a:gd name="adj" fmla="val 4500"/>
            </a:avLst>
          </a:prstGeom>
          <a:solidFill>
            <a:srgbClr val="FDEAEC"/>
          </a:solidFill>
          <a:ln w="19050">
            <a:solidFill>
              <a:srgbClr val="E63946"/>
            </a:solidFill>
            <a:prstDash val="solid"/>
          </a:ln>
        </p:spPr>
      </p:sp>
      <p:sp>
        <p:nvSpPr>
          <p:cNvPr id="21" name="Text 19"/>
          <p:cNvSpPr txBox="1"/>
          <p:nvPr/>
        </p:nvSpPr>
        <p:spPr>
          <a:xfrm>
            <a:off x="9660636" y="2304288"/>
            <a:ext cx="1828800" cy="411480"/>
          </a:xfrm>
          <a:prstGeom prst="rect">
            <a:avLst/>
          </a:prstGeom>
          <a:noFill/>
          <a:ln/>
        </p:spPr>
        <p:txBody>
          <a:bodyPr wrap="square" lIns="0" tIns="0" rIns="0" bIns="0" rtlCol="0" anchor="ctr"/>
          <a:lstStyle/>
          <a:p>
            <a:pPr algn="ctr" indent="0" marL="0">
              <a:buNone/>
            </a:pPr>
            <a:r>
              <a:rPr lang="en-US" sz="1500" b="1" dirty="0">
                <a:solidFill>
                  <a:srgbClr val="E63946"/>
                </a:solidFill>
                <a:latin typeface="Cambria" pitchFamily="34" charset="0"/>
                <a:ea typeface="Cambria" pitchFamily="34" charset="-122"/>
                <a:cs typeface="Cambria" pitchFamily="34" charset="-120"/>
              </a:rPr>
              <a:t>Probability</a:t>
            </a:r>
            <a:endParaRPr lang="en-US" sz="1500" dirty="0"/>
          </a:p>
        </p:txBody>
      </p:sp>
      <p:sp>
        <p:nvSpPr>
          <p:cNvPr id="22" name="Text 20"/>
          <p:cNvSpPr txBox="1"/>
          <p:nvPr/>
        </p:nvSpPr>
        <p:spPr>
          <a:xfrm>
            <a:off x="9706356" y="2788920"/>
            <a:ext cx="1737360" cy="914400"/>
          </a:xfrm>
          <a:prstGeom prst="rect">
            <a:avLst/>
          </a:prstGeom>
          <a:noFill/>
          <a:ln/>
        </p:spPr>
        <p:txBody>
          <a:bodyPr wrap="square" lIns="0" tIns="0" rIns="0" bIns="0" rtlCol="0" anchor="t"/>
          <a:lstStyle/>
          <a:p>
            <a:pPr algn="ctr" indent="0" marL="0">
              <a:buNone/>
            </a:pPr>
            <a:r>
              <a:rPr lang="en-US" sz="1250" dirty="0">
                <a:solidFill>
                  <a:srgbClr val="20262E"/>
                </a:solidFill>
                <a:latin typeface="Calibri" pitchFamily="34" charset="0"/>
                <a:ea typeface="Calibri" pitchFamily="34" charset="-122"/>
                <a:cs typeface="Calibri" pitchFamily="34" charset="-120"/>
              </a:rPr>
              <a:t>of heart disease</a:t>
            </a:r>
            <a:endParaRPr lang="en-US" sz="1250" dirty="0"/>
          </a:p>
          <a:p>
            <a:pPr algn="ctr" indent="0" marL="0">
              <a:buNone/>
            </a:pPr>
            <a:r>
              <a:rPr lang="en-US" sz="1250" dirty="0">
                <a:solidFill>
                  <a:srgbClr val="20262E"/>
                </a:solidFill>
                <a:latin typeface="Calibri" pitchFamily="34" charset="0"/>
                <a:ea typeface="Calibri" pitchFamily="34" charset="-122"/>
                <a:cs typeface="Calibri" pitchFamily="34" charset="-120"/>
              </a:rPr>
              <a:t>(0 to 1)</a:t>
            </a:r>
            <a:endParaRPr lang="en-US" sz="1250" dirty="0"/>
          </a:p>
        </p:txBody>
      </p:sp>
      <p:sp>
        <p:nvSpPr>
          <p:cNvPr id="23" name="Shape 21"/>
          <p:cNvSpPr/>
          <p:nvPr/>
        </p:nvSpPr>
        <p:spPr>
          <a:xfrm>
            <a:off x="548640" y="4572000"/>
            <a:ext cx="11091672" cy="1371600"/>
          </a:xfrm>
          <a:prstGeom prst="roundRect">
            <a:avLst>
              <a:gd name="adj" fmla="val 6000"/>
            </a:avLst>
          </a:prstGeom>
          <a:solidFill>
            <a:srgbClr val="FFF6EA"/>
          </a:solidFill>
          <a:ln w="15875">
            <a:solidFill>
              <a:srgbClr val="E9A23B"/>
            </a:solidFill>
            <a:prstDash val="solid"/>
          </a:ln>
        </p:spPr>
      </p:sp>
      <p:sp>
        <p:nvSpPr>
          <p:cNvPr id="24" name="Text 22"/>
          <p:cNvSpPr txBox="1"/>
          <p:nvPr/>
        </p:nvSpPr>
        <p:spPr>
          <a:xfrm>
            <a:off x="822960" y="4572000"/>
            <a:ext cx="10515600" cy="1371600"/>
          </a:xfrm>
          <a:prstGeom prst="rect">
            <a:avLst/>
          </a:prstGeom>
          <a:noFill/>
          <a:ln/>
        </p:spPr>
        <p:txBody>
          <a:bodyPr wrap="square" lIns="0" tIns="0" rIns="0" bIns="0" rtlCol="0" anchor="ctr"/>
          <a:lstStyle/>
          <a:p>
            <a:pPr indent="0" marL="0">
              <a:buNone/>
            </a:pPr>
            <a:r>
              <a:rPr lang="en-US" sz="1500" b="1" dirty="0">
                <a:solidFill>
                  <a:srgbClr val="E9A23B"/>
                </a:solidFill>
                <a:latin typeface="Calibri" pitchFamily="34" charset="0"/>
                <a:ea typeface="Calibri" pitchFamily="34" charset="-122"/>
                <a:cs typeface="Calibri" pitchFamily="34" charset="-120"/>
              </a:rPr>
              <a:t>In simple words:  </a:t>
            </a:r>
            <a:pPr indent="0" marL="0">
              <a:buNone/>
            </a:pPr>
            <a:r>
              <a:rPr lang="en-US" sz="1500" dirty="0">
                <a:solidFill>
                  <a:srgbClr val="20262E"/>
                </a:solidFill>
                <a:latin typeface="Calibri" pitchFamily="34" charset="0"/>
                <a:ea typeface="Calibri" pitchFamily="34" charset="-122"/>
                <a:cs typeface="Calibri" pitchFamily="34" charset="-120"/>
              </a:rPr>
              <a:t>Each layer mixes the numbers and passes them on, learning the hidden pattern. The last layer gives one score — higher means more likely to have heart disease.</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0972800" cy="274320"/>
          </a:xfrm>
          <a:prstGeom prst="rect">
            <a:avLst/>
          </a:prstGeom>
          <a:noFill/>
          <a:ln/>
        </p:spPr>
        <p:txBody>
          <a:bodyPr wrap="square" lIns="0" tIns="0" rIns="0" bIns="0" rtlCol="0" anchor="ctr"/>
          <a:lstStyle/>
          <a:p>
            <a:pPr indent="0" marL="0">
              <a:buNone/>
            </a:pPr>
            <a:r>
              <a:rPr lang="en-US" sz="1200" b="1" spc="300" kern="0" dirty="0">
                <a:solidFill>
                  <a:srgbClr val="E63946"/>
                </a:solidFill>
                <a:latin typeface="Calibri" pitchFamily="34" charset="0"/>
                <a:ea typeface="Calibri" pitchFamily="34" charset="-122"/>
                <a:cs typeface="Calibri" pitchFamily="34" charset="-120"/>
              </a:rPr>
              <a:t>STEP 3 — TRAINING</a:t>
            </a:r>
            <a:endParaRPr lang="en-US" sz="12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How the model learns</a:t>
            </a:r>
            <a:endParaRPr lang="en-US" sz="3000" dirty="0"/>
          </a:p>
        </p:txBody>
      </p:sp>
      <p:pic>
        <p:nvPicPr>
          <p:cNvPr id="4" name="Image 0" descr="/home/claude/heart-disease-prediction/results/training_curves.png">    </p:cNvPr>
          <p:cNvPicPr>
            <a:picLocks noChangeAspect="1"/>
          </p:cNvPicPr>
          <p:nvPr/>
        </p:nvPicPr>
        <p:blipFill>
          <a:blip r:embed="rId1"/>
          <a:stretch>
            <a:fillRect/>
          </a:stretch>
        </p:blipFill>
        <p:spPr>
          <a:xfrm>
            <a:off x="548640" y="1600200"/>
            <a:ext cx="6583680" cy="2926080"/>
          </a:xfrm>
          <a:prstGeom prst="rect">
            <a:avLst/>
          </a:prstGeom>
        </p:spPr>
      </p:pic>
      <p:sp>
        <p:nvSpPr>
          <p:cNvPr id="5" name="Shape 2"/>
          <p:cNvSpPr/>
          <p:nvPr/>
        </p:nvSpPr>
        <p:spPr>
          <a:xfrm>
            <a:off x="7406640" y="1600200"/>
            <a:ext cx="4233672" cy="2926080"/>
          </a:xfrm>
          <a:prstGeom prst="roundRect">
            <a:avLst>
              <a:gd name="adj" fmla="val 2813"/>
            </a:avLst>
          </a:prstGeom>
          <a:solidFill>
            <a:srgbClr val="FFFFFF"/>
          </a:solidFill>
          <a:ln w="12700">
            <a:solidFill>
              <a:srgbClr val="E2E7EF"/>
            </a:solidFill>
            <a:prstDash val="solid"/>
          </a:ln>
        </p:spPr>
      </p:sp>
      <p:sp>
        <p:nvSpPr>
          <p:cNvPr id="6" name="Text 3"/>
          <p:cNvSpPr txBox="1"/>
          <p:nvPr/>
        </p:nvSpPr>
        <p:spPr>
          <a:xfrm>
            <a:off x="7406640" y="1783080"/>
            <a:ext cx="4233672" cy="365760"/>
          </a:xfrm>
          <a:prstGeom prst="rect">
            <a:avLst/>
          </a:prstGeom>
          <a:noFill/>
          <a:ln/>
        </p:spPr>
        <p:txBody>
          <a:bodyPr wrap="square" lIns="0" tIns="0" rIns="0" bIns="0" rtlCol="0" anchor="ctr"/>
          <a:lstStyle/>
          <a:p>
            <a:pPr algn="ctr" indent="0" marL="0">
              <a:buNone/>
            </a:pPr>
            <a:r>
              <a:rPr lang="en-US" sz="1700" b="1" dirty="0">
                <a:solidFill>
                  <a:srgbClr val="E9A23B"/>
                </a:solidFill>
                <a:latin typeface="Cambria" pitchFamily="34" charset="0"/>
                <a:ea typeface="Cambria" pitchFamily="34" charset="-122"/>
                <a:cs typeface="Cambria" pitchFamily="34" charset="-120"/>
              </a:rPr>
              <a:t>The idea</a:t>
            </a:r>
            <a:endParaRPr lang="en-US" sz="1700" dirty="0"/>
          </a:p>
        </p:txBody>
      </p:sp>
      <p:sp>
        <p:nvSpPr>
          <p:cNvPr id="7" name="Text 4"/>
          <p:cNvSpPr txBox="1"/>
          <p:nvPr/>
        </p:nvSpPr>
        <p:spPr>
          <a:xfrm>
            <a:off x="7726680" y="2286000"/>
            <a:ext cx="3657600" cy="2103120"/>
          </a:xfrm>
          <a:prstGeom prst="rect">
            <a:avLst/>
          </a:prstGeom>
          <a:noFill/>
          <a:ln/>
        </p:spPr>
        <p:txBody>
          <a:bodyPr wrap="square" lIns="0" tIns="0" rIns="0" bIns="0" rtlCol="0" anchor="ctr"/>
          <a:lstStyle/>
          <a:p>
            <a:pPr marL="203200" indent="-203200">
              <a:spcAft>
                <a:spcPts val="1200"/>
              </a:spcAft>
              <a:buSzPct val="100000"/>
              <a:buChar char="•"/>
            </a:pPr>
            <a:r>
              <a:rPr lang="en-US" sz="1550" dirty="0">
                <a:solidFill>
                  <a:srgbClr val="20262E"/>
                </a:solidFill>
                <a:latin typeface="Calibri" pitchFamily="34" charset="0"/>
                <a:ea typeface="Calibri" pitchFamily="34" charset="-122"/>
                <a:cs typeface="Calibri" pitchFamily="34" charset="-120"/>
              </a:rPr>
              <a:t>Model makes a guess</a:t>
            </a:r>
            <a:endParaRPr lang="en-US" sz="1550" dirty="0"/>
          </a:p>
          <a:p>
            <a:pPr marL="203200" indent="-203200">
              <a:spcAft>
                <a:spcPts val="1200"/>
              </a:spcAft>
              <a:buSzPct val="100000"/>
              <a:buChar char="•"/>
            </a:pPr>
            <a:r>
              <a:rPr lang="en-US" sz="1550" dirty="0">
                <a:solidFill>
                  <a:srgbClr val="20262E"/>
                </a:solidFill>
                <a:latin typeface="Calibri" pitchFamily="34" charset="0"/>
                <a:ea typeface="Calibri" pitchFamily="34" charset="-122"/>
                <a:cs typeface="Calibri" pitchFamily="34" charset="-120"/>
              </a:rPr>
              <a:t>We measure the error</a:t>
            </a:r>
            <a:endParaRPr lang="en-US" sz="1550" dirty="0"/>
          </a:p>
          <a:p>
            <a:pPr marL="203200" indent="-203200">
              <a:spcAft>
                <a:spcPts val="1200"/>
              </a:spcAft>
              <a:buSzPct val="100000"/>
              <a:buChar char="•"/>
            </a:pPr>
            <a:r>
              <a:rPr lang="en-US" sz="1550" dirty="0">
                <a:solidFill>
                  <a:srgbClr val="20262E"/>
                </a:solidFill>
                <a:latin typeface="Calibri" pitchFamily="34" charset="0"/>
                <a:ea typeface="Calibri" pitchFamily="34" charset="-122"/>
                <a:cs typeface="Calibri" pitchFamily="34" charset="-120"/>
              </a:rPr>
              <a:t>It adjusts to do better</a:t>
            </a:r>
            <a:endParaRPr lang="en-US" sz="1550" dirty="0"/>
          </a:p>
          <a:p>
            <a:pPr marL="203200" indent="-203200">
              <a:spcAft>
                <a:spcPts val="1200"/>
              </a:spcAft>
              <a:buSzPct val="100000"/>
              <a:buChar char="•"/>
            </a:pPr>
            <a:r>
              <a:rPr lang="en-US" sz="1550" dirty="0">
                <a:solidFill>
                  <a:srgbClr val="20262E"/>
                </a:solidFill>
                <a:latin typeface="Calibri" pitchFamily="34" charset="0"/>
                <a:ea typeface="Calibri" pitchFamily="34" charset="-122"/>
                <a:cs typeface="Calibri" pitchFamily="34" charset="-120"/>
              </a:rPr>
              <a:t>Repeat many times</a:t>
            </a:r>
            <a:endParaRPr lang="en-US" sz="1550" dirty="0"/>
          </a:p>
        </p:txBody>
      </p:sp>
      <p:sp>
        <p:nvSpPr>
          <p:cNvPr id="8" name="Shape 5"/>
          <p:cNvSpPr/>
          <p:nvPr/>
        </p:nvSpPr>
        <p:spPr>
          <a:xfrm>
            <a:off x="548640" y="4800600"/>
            <a:ext cx="11091672" cy="1143000"/>
          </a:xfrm>
          <a:prstGeom prst="roundRect">
            <a:avLst>
              <a:gd name="adj" fmla="val 7200"/>
            </a:avLst>
          </a:prstGeom>
          <a:solidFill>
            <a:srgbClr val="FFF6EA"/>
          </a:solidFill>
          <a:ln w="15875">
            <a:solidFill>
              <a:srgbClr val="E9A23B"/>
            </a:solidFill>
            <a:prstDash val="solid"/>
          </a:ln>
        </p:spPr>
      </p:sp>
      <p:sp>
        <p:nvSpPr>
          <p:cNvPr id="9" name="Text 6"/>
          <p:cNvSpPr txBox="1"/>
          <p:nvPr/>
        </p:nvSpPr>
        <p:spPr>
          <a:xfrm>
            <a:off x="822960" y="4800600"/>
            <a:ext cx="10515600" cy="1143000"/>
          </a:xfrm>
          <a:prstGeom prst="rect">
            <a:avLst/>
          </a:prstGeom>
          <a:noFill/>
          <a:ln/>
        </p:spPr>
        <p:txBody>
          <a:bodyPr wrap="square" lIns="0" tIns="0" rIns="0" bIns="0" rtlCol="0" anchor="ctr"/>
          <a:lstStyle/>
          <a:p>
            <a:pPr indent="0" marL="0">
              <a:buNone/>
            </a:pPr>
            <a:r>
              <a:rPr lang="en-US" sz="1500" b="1" dirty="0">
                <a:solidFill>
                  <a:srgbClr val="E9A23B"/>
                </a:solidFill>
                <a:latin typeface="Calibri" pitchFamily="34" charset="0"/>
                <a:ea typeface="Calibri" pitchFamily="34" charset="-122"/>
                <a:cs typeface="Calibri" pitchFamily="34" charset="-120"/>
              </a:rPr>
              <a:t>In simple words:  </a:t>
            </a:r>
            <a:pPr indent="0" marL="0">
              <a:buNone/>
            </a:pPr>
            <a:r>
              <a:rPr lang="en-US" sz="1500" dirty="0">
                <a:solidFill>
                  <a:srgbClr val="20262E"/>
                </a:solidFill>
                <a:latin typeface="Calibri" pitchFamily="34" charset="0"/>
                <a:ea typeface="Calibri" pitchFamily="34" charset="-122"/>
                <a:cs typeface="Calibri" pitchFamily="34" charset="-120"/>
              </a:rPr>
              <a:t>The line going down means fewer mistakes each round. Training stops automatically when it stops improving (no over-studying).</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10896"/>
            <a:ext cx="10972800" cy="274320"/>
          </a:xfrm>
          <a:prstGeom prst="rect">
            <a:avLst/>
          </a:prstGeom>
          <a:noFill/>
          <a:ln/>
        </p:spPr>
        <p:txBody>
          <a:bodyPr wrap="square" lIns="0" tIns="0" rIns="0" bIns="0" rtlCol="0" anchor="ctr"/>
          <a:lstStyle/>
          <a:p>
            <a:pPr indent="0" marL="0">
              <a:buNone/>
            </a:pPr>
            <a:r>
              <a:rPr lang="en-US" sz="1200" b="1" spc="300" kern="0" dirty="0">
                <a:solidFill>
                  <a:srgbClr val="E63946"/>
                </a:solidFill>
                <a:latin typeface="Calibri" pitchFamily="34" charset="0"/>
                <a:ea typeface="Calibri" pitchFamily="34" charset="-122"/>
                <a:cs typeface="Calibri" pitchFamily="34" charset="-120"/>
              </a:rPr>
              <a:t>THE RESULTS</a:t>
            </a:r>
            <a:endParaRPr lang="en-US" sz="12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How well does it work?</a:t>
            </a:r>
            <a:endParaRPr lang="en-US" sz="3000" dirty="0"/>
          </a:p>
        </p:txBody>
      </p:sp>
      <p:sp>
        <p:nvSpPr>
          <p:cNvPr id="4" name="Shape 2"/>
          <p:cNvSpPr/>
          <p:nvPr/>
        </p:nvSpPr>
        <p:spPr>
          <a:xfrm>
            <a:off x="548640" y="1508760"/>
            <a:ext cx="1783080" cy="1143000"/>
          </a:xfrm>
          <a:prstGeom prst="roundRect">
            <a:avLst>
              <a:gd name="adj" fmla="val 6400"/>
            </a:avLst>
          </a:prstGeom>
          <a:solidFill>
            <a:srgbClr val="2A9D8F"/>
          </a:solidFill>
          <a:ln w="12700">
            <a:solidFill>
              <a:srgbClr val="2A9D8F"/>
            </a:solidFill>
            <a:prstDash val="solid"/>
          </a:ln>
        </p:spPr>
      </p:sp>
      <p:sp>
        <p:nvSpPr>
          <p:cNvPr id="5" name="Text 3"/>
          <p:cNvSpPr txBox="1"/>
          <p:nvPr/>
        </p:nvSpPr>
        <p:spPr>
          <a:xfrm>
            <a:off x="548640" y="1600200"/>
            <a:ext cx="1783080" cy="68580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82%</a:t>
            </a:r>
            <a:endParaRPr lang="en-US" sz="3000" dirty="0"/>
          </a:p>
        </p:txBody>
      </p:sp>
      <p:sp>
        <p:nvSpPr>
          <p:cNvPr id="6" name="Text 4"/>
          <p:cNvSpPr txBox="1"/>
          <p:nvPr/>
        </p:nvSpPr>
        <p:spPr>
          <a:xfrm>
            <a:off x="548640" y="2286000"/>
            <a:ext cx="1783080" cy="320040"/>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Accuracy</a:t>
            </a:r>
            <a:endParaRPr lang="en-US" sz="1300" dirty="0"/>
          </a:p>
        </p:txBody>
      </p:sp>
      <p:sp>
        <p:nvSpPr>
          <p:cNvPr id="7" name="Shape 5"/>
          <p:cNvSpPr/>
          <p:nvPr/>
        </p:nvSpPr>
        <p:spPr>
          <a:xfrm>
            <a:off x="2514600" y="1508760"/>
            <a:ext cx="1783080" cy="1143000"/>
          </a:xfrm>
          <a:prstGeom prst="roundRect">
            <a:avLst>
              <a:gd name="adj" fmla="val 6400"/>
            </a:avLst>
          </a:prstGeom>
          <a:solidFill>
            <a:srgbClr val="457B9D"/>
          </a:solidFill>
          <a:ln w="12700">
            <a:solidFill>
              <a:srgbClr val="457B9D"/>
            </a:solidFill>
            <a:prstDash val="solid"/>
          </a:ln>
        </p:spPr>
      </p:sp>
      <p:sp>
        <p:nvSpPr>
          <p:cNvPr id="8" name="Text 6"/>
          <p:cNvSpPr txBox="1"/>
          <p:nvPr/>
        </p:nvSpPr>
        <p:spPr>
          <a:xfrm>
            <a:off x="2514600" y="1600200"/>
            <a:ext cx="1783080" cy="68580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0.88</a:t>
            </a:r>
            <a:endParaRPr lang="en-US" sz="3000" dirty="0"/>
          </a:p>
        </p:txBody>
      </p:sp>
      <p:sp>
        <p:nvSpPr>
          <p:cNvPr id="9" name="Text 7"/>
          <p:cNvSpPr txBox="1"/>
          <p:nvPr/>
        </p:nvSpPr>
        <p:spPr>
          <a:xfrm>
            <a:off x="2514600" y="2286000"/>
            <a:ext cx="1783080" cy="320040"/>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ROC-AUC</a:t>
            </a:r>
            <a:endParaRPr lang="en-US" sz="1300" dirty="0"/>
          </a:p>
        </p:txBody>
      </p:sp>
      <p:sp>
        <p:nvSpPr>
          <p:cNvPr id="10" name="Shape 8"/>
          <p:cNvSpPr/>
          <p:nvPr/>
        </p:nvSpPr>
        <p:spPr>
          <a:xfrm>
            <a:off x="4480560" y="1508760"/>
            <a:ext cx="1783080" cy="1143000"/>
          </a:xfrm>
          <a:prstGeom prst="roundRect">
            <a:avLst>
              <a:gd name="adj" fmla="val 6400"/>
            </a:avLst>
          </a:prstGeom>
          <a:solidFill>
            <a:srgbClr val="E63946"/>
          </a:solidFill>
          <a:ln w="12700">
            <a:solidFill>
              <a:srgbClr val="E63946"/>
            </a:solidFill>
            <a:prstDash val="solid"/>
          </a:ln>
        </p:spPr>
      </p:sp>
      <p:sp>
        <p:nvSpPr>
          <p:cNvPr id="11" name="Text 9"/>
          <p:cNvSpPr txBox="1"/>
          <p:nvPr/>
        </p:nvSpPr>
        <p:spPr>
          <a:xfrm>
            <a:off x="4480560" y="1600200"/>
            <a:ext cx="1783080" cy="68580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80%</a:t>
            </a:r>
            <a:endParaRPr lang="en-US" sz="3000" dirty="0"/>
          </a:p>
        </p:txBody>
      </p:sp>
      <p:sp>
        <p:nvSpPr>
          <p:cNvPr id="12" name="Text 10"/>
          <p:cNvSpPr txBox="1"/>
          <p:nvPr/>
        </p:nvSpPr>
        <p:spPr>
          <a:xfrm>
            <a:off x="4480560" y="2286000"/>
            <a:ext cx="1783080" cy="320040"/>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Recall</a:t>
            </a:r>
            <a:endParaRPr lang="en-US" sz="1300" dirty="0"/>
          </a:p>
        </p:txBody>
      </p:sp>
      <p:sp>
        <p:nvSpPr>
          <p:cNvPr id="13" name="Text 11"/>
          <p:cNvSpPr txBox="1"/>
          <p:nvPr/>
        </p:nvSpPr>
        <p:spPr>
          <a:xfrm>
            <a:off x="6675120" y="1600200"/>
            <a:ext cx="2926080" cy="1005840"/>
          </a:xfrm>
          <a:prstGeom prst="rect">
            <a:avLst/>
          </a:prstGeom>
          <a:noFill/>
          <a:ln/>
        </p:spPr>
        <p:txBody>
          <a:bodyPr wrap="square" lIns="0" tIns="0" rIns="0" bIns="0" rtlCol="0" anchor="ctr"/>
          <a:lstStyle/>
          <a:p>
            <a:pPr indent="0" marL="0">
              <a:buNone/>
            </a:pPr>
            <a:r>
              <a:rPr lang="en-US" sz="1350" i="1" dirty="0">
                <a:solidFill>
                  <a:srgbClr val="5B6672"/>
                </a:solidFill>
                <a:latin typeface="Calibri" pitchFamily="34" charset="0"/>
                <a:ea typeface="Calibri" pitchFamily="34" charset="-122"/>
                <a:cs typeface="Calibri" pitchFamily="34" charset="-120"/>
              </a:rPr>
              <a:t>5-fold cross-validation —</a:t>
            </a:r>
            <a:endParaRPr lang="en-US" sz="1350" dirty="0"/>
          </a:p>
          <a:p>
            <a:pPr indent="0" marL="0">
              <a:buNone/>
            </a:pPr>
            <a:r>
              <a:rPr lang="en-US" sz="1350" i="1" dirty="0">
                <a:solidFill>
                  <a:srgbClr val="5B6672"/>
                </a:solidFill>
                <a:latin typeface="Calibri" pitchFamily="34" charset="0"/>
                <a:ea typeface="Calibri" pitchFamily="34" charset="-122"/>
                <a:cs typeface="Calibri" pitchFamily="34" charset="-120"/>
              </a:rPr>
              <a:t>a fair, stable score</a:t>
            </a:r>
            <a:endParaRPr lang="en-US" sz="1350" dirty="0"/>
          </a:p>
        </p:txBody>
      </p:sp>
      <p:pic>
        <p:nvPicPr>
          <p:cNvPr id="14" name="Image 0" descr="/home/claude/heart-disease-prediction/results/confusion_matrix.png">    </p:cNvPr>
          <p:cNvPicPr>
            <a:picLocks noChangeAspect="1"/>
          </p:cNvPicPr>
          <p:nvPr/>
        </p:nvPicPr>
        <p:blipFill>
          <a:blip r:embed="rId1"/>
          <a:stretch>
            <a:fillRect/>
          </a:stretch>
        </p:blipFill>
        <p:spPr>
          <a:xfrm>
            <a:off x="548640" y="2880360"/>
            <a:ext cx="3063240" cy="2743200"/>
          </a:xfrm>
          <a:prstGeom prst="rect">
            <a:avLst/>
          </a:prstGeom>
        </p:spPr>
      </p:pic>
      <p:pic>
        <p:nvPicPr>
          <p:cNvPr id="15" name="Image 1" descr="/home/claude/heart-disease-prediction/results/roc_curve.png">    </p:cNvPr>
          <p:cNvPicPr>
            <a:picLocks noChangeAspect="1"/>
          </p:cNvPicPr>
          <p:nvPr/>
        </p:nvPicPr>
        <p:blipFill>
          <a:blip r:embed="rId2"/>
          <a:stretch>
            <a:fillRect/>
          </a:stretch>
        </p:blipFill>
        <p:spPr>
          <a:xfrm>
            <a:off x="3794760" y="2880360"/>
            <a:ext cx="3063240" cy="2743200"/>
          </a:xfrm>
          <a:prstGeom prst="rect">
            <a:avLst/>
          </a:prstGeom>
        </p:spPr>
      </p:pic>
      <p:sp>
        <p:nvSpPr>
          <p:cNvPr id="16" name="Text 12"/>
          <p:cNvSpPr txBox="1"/>
          <p:nvPr/>
        </p:nvSpPr>
        <p:spPr>
          <a:xfrm>
            <a:off x="548640" y="5623560"/>
            <a:ext cx="3063240" cy="274320"/>
          </a:xfrm>
          <a:prstGeom prst="rect">
            <a:avLst/>
          </a:prstGeom>
          <a:noFill/>
          <a:ln/>
        </p:spPr>
        <p:txBody>
          <a:bodyPr wrap="square" lIns="0" tIns="0" rIns="0" bIns="0" rtlCol="0" anchor="ctr"/>
          <a:lstStyle/>
          <a:p>
            <a:pPr algn="ctr" indent="0" marL="0">
              <a:buNone/>
            </a:pPr>
            <a:r>
              <a:rPr lang="en-US" sz="1100" dirty="0">
                <a:solidFill>
                  <a:srgbClr val="5B6672"/>
                </a:solidFill>
                <a:latin typeface="Calibri" pitchFamily="34" charset="0"/>
                <a:ea typeface="Calibri" pitchFamily="34" charset="-122"/>
                <a:cs typeface="Calibri" pitchFamily="34" charset="-120"/>
              </a:rPr>
              <a:t>Confusion matrix</a:t>
            </a:r>
            <a:endParaRPr lang="en-US" sz="1100" dirty="0"/>
          </a:p>
        </p:txBody>
      </p:sp>
      <p:sp>
        <p:nvSpPr>
          <p:cNvPr id="17" name="Text 13"/>
          <p:cNvSpPr txBox="1"/>
          <p:nvPr/>
        </p:nvSpPr>
        <p:spPr>
          <a:xfrm>
            <a:off x="3794760" y="5623560"/>
            <a:ext cx="3063240" cy="274320"/>
          </a:xfrm>
          <a:prstGeom prst="rect">
            <a:avLst/>
          </a:prstGeom>
          <a:noFill/>
          <a:ln/>
        </p:spPr>
        <p:txBody>
          <a:bodyPr wrap="square" lIns="0" tIns="0" rIns="0" bIns="0" rtlCol="0" anchor="ctr"/>
          <a:lstStyle/>
          <a:p>
            <a:pPr algn="ctr" indent="0" marL="0">
              <a:buNone/>
            </a:pPr>
            <a:r>
              <a:rPr lang="en-US" sz="1100" dirty="0">
                <a:solidFill>
                  <a:srgbClr val="5B6672"/>
                </a:solidFill>
                <a:latin typeface="Calibri" pitchFamily="34" charset="0"/>
                <a:ea typeface="Calibri" pitchFamily="34" charset="-122"/>
                <a:cs typeface="Calibri" pitchFamily="34" charset="-120"/>
              </a:rPr>
              <a:t>ROC curve</a:t>
            </a:r>
            <a:endParaRPr lang="en-US" sz="1100" dirty="0"/>
          </a:p>
        </p:txBody>
      </p:sp>
      <p:sp>
        <p:nvSpPr>
          <p:cNvPr id="18" name="Shape 14"/>
          <p:cNvSpPr/>
          <p:nvPr/>
        </p:nvSpPr>
        <p:spPr>
          <a:xfrm>
            <a:off x="7178040" y="2880360"/>
            <a:ext cx="4462272" cy="2743200"/>
          </a:xfrm>
          <a:prstGeom prst="roundRect">
            <a:avLst>
              <a:gd name="adj" fmla="val 3000"/>
            </a:avLst>
          </a:prstGeom>
          <a:solidFill>
            <a:srgbClr val="FFFFFF"/>
          </a:solidFill>
          <a:ln w="12700">
            <a:solidFill>
              <a:srgbClr val="E2E7EF"/>
            </a:solidFill>
            <a:prstDash val="solid"/>
          </a:ln>
        </p:spPr>
      </p:sp>
      <p:sp>
        <p:nvSpPr>
          <p:cNvPr id="19" name="Text 15"/>
          <p:cNvSpPr txBox="1"/>
          <p:nvPr/>
        </p:nvSpPr>
        <p:spPr>
          <a:xfrm>
            <a:off x="7178040" y="3063240"/>
            <a:ext cx="4462272" cy="365760"/>
          </a:xfrm>
          <a:prstGeom prst="rect">
            <a:avLst/>
          </a:prstGeom>
          <a:noFill/>
          <a:ln/>
        </p:spPr>
        <p:txBody>
          <a:bodyPr wrap="square" lIns="0" tIns="0" rIns="0" bIns="0" rtlCol="0" anchor="ctr"/>
          <a:lstStyle/>
          <a:p>
            <a:pPr algn="ctr" indent="0" marL="0">
              <a:buNone/>
            </a:pPr>
            <a:r>
              <a:rPr lang="en-US" sz="1600" b="1" dirty="0">
                <a:solidFill>
                  <a:srgbClr val="2A9D8F"/>
                </a:solidFill>
                <a:latin typeface="Cambria" pitchFamily="34" charset="0"/>
                <a:ea typeface="Cambria" pitchFamily="34" charset="-122"/>
                <a:cs typeface="Cambria" pitchFamily="34" charset="-120"/>
              </a:rPr>
              <a:t>What it means</a:t>
            </a:r>
            <a:endParaRPr lang="en-US" sz="1600" dirty="0"/>
          </a:p>
        </p:txBody>
      </p:sp>
      <p:sp>
        <p:nvSpPr>
          <p:cNvPr id="20" name="Text 16"/>
          <p:cNvSpPr txBox="1"/>
          <p:nvPr/>
        </p:nvSpPr>
        <p:spPr>
          <a:xfrm>
            <a:off x="7452360" y="3520440"/>
            <a:ext cx="3931920" cy="1920240"/>
          </a:xfrm>
          <a:prstGeom prst="rect">
            <a:avLst/>
          </a:prstGeom>
          <a:noFill/>
          <a:ln/>
        </p:spPr>
        <p:txBody>
          <a:bodyPr wrap="square" lIns="0" tIns="0" rIns="0" bIns="0" rtlCol="0" anchor="ctr"/>
          <a:lstStyle/>
          <a:p>
            <a:pPr indent="0" marL="0">
              <a:spcAft>
                <a:spcPts val="1000"/>
              </a:spcAft>
              <a:buNone/>
            </a:pPr>
            <a:r>
              <a:rPr lang="en-US" sz="1400" dirty="0">
                <a:solidFill>
                  <a:srgbClr val="20262E"/>
                </a:solidFill>
                <a:latin typeface="Calibri" pitchFamily="34" charset="0"/>
                <a:ea typeface="Calibri" pitchFamily="34" charset="-122"/>
                <a:cs typeface="Calibri" pitchFamily="34" charset="-120"/>
              </a:rPr>
              <a:t>Recall 80% — it catches 80% of patients who truly have the disease.</a:t>
            </a:r>
            <a:endParaRPr lang="en-US" sz="1400" dirty="0"/>
          </a:p>
          <a:p>
            <a:pPr indent="0" marL="0">
              <a:spcAft>
                <a:spcPts val="1000"/>
              </a:spcAft>
              <a:buNone/>
            </a:pPr>
            <a:r>
              <a:rPr lang="en-US" sz="1400" dirty="0">
                <a:solidFill>
                  <a:srgbClr val="20262E"/>
                </a:solidFill>
                <a:latin typeface="Calibri" pitchFamily="34" charset="0"/>
                <a:ea typeface="Calibri" pitchFamily="34" charset="-122"/>
                <a:cs typeface="Calibri" pitchFamily="34" charset="-120"/>
              </a:rPr>
              <a:t>ROC-AUC 0.88 — it separates sick from healthy well.</a:t>
            </a:r>
            <a:endParaRPr lang="en-US" sz="1400" dirty="0"/>
          </a:p>
          <a:p>
            <a:pPr indent="0" marL="0">
              <a:buNone/>
            </a:pPr>
            <a:r>
              <a:rPr lang="en-US" sz="1400" dirty="0">
                <a:solidFill>
                  <a:srgbClr val="20262E"/>
                </a:solidFill>
                <a:latin typeface="Calibri" pitchFamily="34" charset="0"/>
                <a:ea typeface="Calibri" pitchFamily="34" charset="-122"/>
                <a:cs typeface="Calibri" pitchFamily="34" charset="-120"/>
              </a:rPr>
              <a:t>Beat / matched logistic regression, random forest and gradient boosting.</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2A4A"/>
        </a:solidFill>
      </p:bgPr>
    </p:bg>
    <p:spTree>
      <p:nvGrpSpPr>
        <p:cNvPr id="1" name=""/>
        <p:cNvGrpSpPr/>
        <p:nvPr/>
      </p:nvGrpSpPr>
      <p:grpSpPr>
        <a:xfrm>
          <a:off x="0" y="0"/>
          <a:ext cx="0" cy="0"/>
          <a:chOff x="0" y="0"/>
          <a:chExt cx="0" cy="0"/>
        </a:xfrm>
      </p:grpSpPr>
      <p:sp>
        <p:nvSpPr>
          <p:cNvPr id="2" name="Text 0"/>
          <p:cNvSpPr txBox="1"/>
          <p:nvPr/>
        </p:nvSpPr>
        <p:spPr>
          <a:xfrm>
            <a:off x="548640" y="457200"/>
            <a:ext cx="10972800" cy="274320"/>
          </a:xfrm>
          <a:prstGeom prst="rect">
            <a:avLst/>
          </a:prstGeom>
          <a:noFill/>
          <a:ln/>
        </p:spPr>
        <p:txBody>
          <a:bodyPr wrap="square" lIns="0" tIns="0" rIns="0" bIns="0" rtlCol="0" anchor="ctr"/>
          <a:lstStyle/>
          <a:p>
            <a:pPr indent="0" marL="0">
              <a:buNone/>
            </a:pPr>
            <a:r>
              <a:rPr lang="en-US" sz="1200" b="1" spc="300" kern="0" dirty="0">
                <a:solidFill>
                  <a:srgbClr val="E63946"/>
                </a:solidFill>
                <a:latin typeface="Calibri" pitchFamily="34" charset="0"/>
                <a:ea typeface="Calibri" pitchFamily="34" charset="-122"/>
                <a:cs typeface="Calibri" pitchFamily="34" charset="-120"/>
              </a:rPr>
              <a:t>CONCLUSION</a:t>
            </a:r>
            <a:endParaRPr lang="en-US" sz="1200" dirty="0"/>
          </a:p>
        </p:txBody>
      </p:sp>
      <p:sp>
        <p:nvSpPr>
          <p:cNvPr id="3" name="Text 1"/>
          <p:cNvSpPr txBox="1"/>
          <p:nvPr/>
        </p:nvSpPr>
        <p:spPr>
          <a:xfrm>
            <a:off x="548640" y="731520"/>
            <a:ext cx="1097280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What we built &amp; learned</a:t>
            </a:r>
            <a:endParaRPr lang="en-US" sz="3200" dirty="0"/>
          </a:p>
        </p:txBody>
      </p:sp>
      <p:sp>
        <p:nvSpPr>
          <p:cNvPr id="4" name="Shape 2"/>
          <p:cNvSpPr/>
          <p:nvPr/>
        </p:nvSpPr>
        <p:spPr>
          <a:xfrm>
            <a:off x="548640" y="1737360"/>
            <a:ext cx="5440680" cy="2743200"/>
          </a:xfrm>
          <a:prstGeom prst="roundRect">
            <a:avLst>
              <a:gd name="adj" fmla="val 3000"/>
            </a:avLst>
          </a:prstGeom>
          <a:solidFill>
            <a:srgbClr val="223253"/>
          </a:solidFill>
          <a:ln w="12700">
            <a:solidFill>
              <a:srgbClr val="223253"/>
            </a:solidFill>
            <a:prstDash val="solid"/>
          </a:ln>
        </p:spPr>
      </p:sp>
      <p:sp>
        <p:nvSpPr>
          <p:cNvPr id="5" name="Text 3"/>
          <p:cNvSpPr txBox="1"/>
          <p:nvPr/>
        </p:nvSpPr>
        <p:spPr>
          <a:xfrm>
            <a:off x="822960" y="1920240"/>
            <a:ext cx="4937760" cy="365760"/>
          </a:xfrm>
          <a:prstGeom prst="rect">
            <a:avLst/>
          </a:prstGeom>
          <a:noFill/>
          <a:ln/>
        </p:spPr>
        <p:txBody>
          <a:bodyPr wrap="square" lIns="0" tIns="0" rIns="0" bIns="0" rtlCol="0" anchor="ctr"/>
          <a:lstStyle/>
          <a:p>
            <a:pPr indent="0" marL="0">
              <a:buNone/>
            </a:pPr>
            <a:r>
              <a:rPr lang="en-US" sz="1700" b="1" dirty="0">
                <a:solidFill>
                  <a:srgbClr val="E63946"/>
                </a:solidFill>
                <a:latin typeface="Cambria" pitchFamily="34" charset="0"/>
                <a:ea typeface="Cambria" pitchFamily="34" charset="-122"/>
                <a:cs typeface="Cambria" pitchFamily="34" charset="-120"/>
              </a:rPr>
              <a:t>What we did</a:t>
            </a:r>
            <a:endParaRPr lang="en-US" sz="1700" dirty="0"/>
          </a:p>
        </p:txBody>
      </p:sp>
      <p:sp>
        <p:nvSpPr>
          <p:cNvPr id="6" name="Text 4"/>
          <p:cNvSpPr txBox="1"/>
          <p:nvPr/>
        </p:nvSpPr>
        <p:spPr>
          <a:xfrm>
            <a:off x="868680" y="2423160"/>
            <a:ext cx="4846320" cy="1920240"/>
          </a:xfrm>
          <a:prstGeom prst="rect">
            <a:avLst/>
          </a:prstGeom>
          <a:noFill/>
          <a:ln/>
        </p:spPr>
        <p:txBody>
          <a:bodyPr wrap="square" lIns="0" tIns="0" rIns="0" bIns="0" rtlCol="0" anchor="ctr"/>
          <a:lstStyle/>
          <a:p>
            <a:pPr marL="203200" indent="-203200">
              <a:spcAft>
                <a:spcPts val="1200"/>
              </a:spcAft>
              <a:buSzPct val="100000"/>
              <a:buChar char="•"/>
            </a:pPr>
            <a:r>
              <a:rPr lang="en-US" sz="1500" dirty="0">
                <a:solidFill>
                  <a:srgbClr val="FFFFFF"/>
                </a:solidFill>
                <a:latin typeface="Calibri" pitchFamily="34" charset="0"/>
                <a:ea typeface="Calibri" pitchFamily="34" charset="-122"/>
                <a:cs typeface="Calibri" pitchFamily="34" charset="-120"/>
              </a:rPr>
              <a:t>Built a neural network in PyTorch</a:t>
            </a:r>
            <a:endParaRPr lang="en-US" sz="1500" dirty="0"/>
          </a:p>
          <a:p>
            <a:pPr marL="203200" indent="-203200">
              <a:spcAft>
                <a:spcPts val="1200"/>
              </a:spcAft>
              <a:buSzPct val="100000"/>
              <a:buChar char="•"/>
            </a:pPr>
            <a:r>
              <a:rPr lang="en-US" sz="1500" dirty="0">
                <a:solidFill>
                  <a:srgbClr val="FFFFFF"/>
                </a:solidFill>
                <a:latin typeface="Calibri" pitchFamily="34" charset="0"/>
                <a:ea typeface="Calibri" pitchFamily="34" charset="-122"/>
                <a:cs typeface="Calibri" pitchFamily="34" charset="-120"/>
              </a:rPr>
              <a:t>Trained it on 303 patient records</a:t>
            </a:r>
            <a:endParaRPr lang="en-US" sz="1500" dirty="0"/>
          </a:p>
          <a:p>
            <a:pPr marL="203200" indent="-203200">
              <a:spcAft>
                <a:spcPts val="1200"/>
              </a:spcAft>
              <a:buSzPct val="100000"/>
              <a:buChar char="•"/>
            </a:pPr>
            <a:r>
              <a:rPr lang="en-US" sz="1500" dirty="0">
                <a:solidFill>
                  <a:srgbClr val="FFFFFF"/>
                </a:solidFill>
                <a:latin typeface="Calibri" pitchFamily="34" charset="0"/>
                <a:ea typeface="Calibri" pitchFamily="34" charset="-122"/>
                <a:cs typeface="Calibri" pitchFamily="34" charset="-120"/>
              </a:rPr>
              <a:t>Tested it fairly with cross-validation</a:t>
            </a:r>
            <a:endParaRPr lang="en-US" sz="1500" dirty="0"/>
          </a:p>
          <a:p>
            <a:pPr marL="203200" indent="-203200">
              <a:spcAft>
                <a:spcPts val="1200"/>
              </a:spcAft>
              <a:buSzPct val="100000"/>
              <a:buChar char="•"/>
            </a:pPr>
            <a:r>
              <a:rPr lang="en-US" sz="1500" dirty="0">
                <a:solidFill>
                  <a:srgbClr val="FFFFFF"/>
                </a:solidFill>
                <a:latin typeface="Calibri" pitchFamily="34" charset="0"/>
                <a:ea typeface="Calibri" pitchFamily="34" charset="-122"/>
                <a:cs typeface="Calibri" pitchFamily="34" charset="-120"/>
              </a:rPr>
              <a:t>Compared it to classic ML models</a:t>
            </a:r>
            <a:endParaRPr lang="en-US" sz="1500" dirty="0"/>
          </a:p>
        </p:txBody>
      </p:sp>
      <p:sp>
        <p:nvSpPr>
          <p:cNvPr id="7" name="Shape 5"/>
          <p:cNvSpPr/>
          <p:nvPr/>
        </p:nvSpPr>
        <p:spPr>
          <a:xfrm>
            <a:off x="6199632" y="1737360"/>
            <a:ext cx="5440680" cy="2743200"/>
          </a:xfrm>
          <a:prstGeom prst="roundRect">
            <a:avLst>
              <a:gd name="adj" fmla="val 3000"/>
            </a:avLst>
          </a:prstGeom>
          <a:solidFill>
            <a:srgbClr val="223253"/>
          </a:solidFill>
          <a:ln w="12700">
            <a:solidFill>
              <a:srgbClr val="223253"/>
            </a:solidFill>
            <a:prstDash val="solid"/>
          </a:ln>
        </p:spPr>
      </p:sp>
      <p:sp>
        <p:nvSpPr>
          <p:cNvPr id="8" name="Text 6"/>
          <p:cNvSpPr txBox="1"/>
          <p:nvPr/>
        </p:nvSpPr>
        <p:spPr>
          <a:xfrm>
            <a:off x="6473952" y="1920240"/>
            <a:ext cx="4937760" cy="365760"/>
          </a:xfrm>
          <a:prstGeom prst="rect">
            <a:avLst/>
          </a:prstGeom>
          <a:noFill/>
          <a:ln/>
        </p:spPr>
        <p:txBody>
          <a:bodyPr wrap="square" lIns="0" tIns="0" rIns="0" bIns="0" rtlCol="0" anchor="ctr"/>
          <a:lstStyle/>
          <a:p>
            <a:pPr indent="0" marL="0">
              <a:buNone/>
            </a:pPr>
            <a:r>
              <a:rPr lang="en-US" sz="1700" b="1" dirty="0">
                <a:solidFill>
                  <a:srgbClr val="2A9D8F"/>
                </a:solidFill>
                <a:latin typeface="Cambria" pitchFamily="34" charset="0"/>
                <a:ea typeface="Cambria" pitchFamily="34" charset="-122"/>
                <a:cs typeface="Cambria" pitchFamily="34" charset="-120"/>
              </a:rPr>
              <a:t>Key takeaways</a:t>
            </a:r>
            <a:endParaRPr lang="en-US" sz="1700" dirty="0"/>
          </a:p>
        </p:txBody>
      </p:sp>
      <p:sp>
        <p:nvSpPr>
          <p:cNvPr id="9" name="Text 7"/>
          <p:cNvSpPr txBox="1"/>
          <p:nvPr/>
        </p:nvSpPr>
        <p:spPr>
          <a:xfrm>
            <a:off x="6519672" y="2423160"/>
            <a:ext cx="4846320" cy="1920240"/>
          </a:xfrm>
          <a:prstGeom prst="rect">
            <a:avLst/>
          </a:prstGeom>
          <a:noFill/>
          <a:ln/>
        </p:spPr>
        <p:txBody>
          <a:bodyPr wrap="square" lIns="0" tIns="0" rIns="0" bIns="0" rtlCol="0" anchor="ctr"/>
          <a:lstStyle/>
          <a:p>
            <a:pPr marL="203200" indent="-203200">
              <a:spcAft>
                <a:spcPts val="1200"/>
              </a:spcAft>
              <a:buSzPct val="100000"/>
              <a:buChar char="•"/>
            </a:pPr>
            <a:r>
              <a:rPr lang="en-US" sz="1500" dirty="0">
                <a:solidFill>
                  <a:srgbClr val="FFFFFF"/>
                </a:solidFill>
                <a:latin typeface="Calibri" pitchFamily="34" charset="0"/>
                <a:ea typeface="Calibri" pitchFamily="34" charset="-122"/>
                <a:cs typeface="Calibri" pitchFamily="34" charset="-120"/>
              </a:rPr>
              <a:t>~82% accuracy, 0.88 ROC-AUC</a:t>
            </a:r>
            <a:endParaRPr lang="en-US" sz="1500" dirty="0"/>
          </a:p>
          <a:p>
            <a:pPr marL="203200" indent="-203200">
              <a:spcAft>
                <a:spcPts val="1200"/>
              </a:spcAft>
              <a:buSzPct val="100000"/>
              <a:buChar char="•"/>
            </a:pPr>
            <a:r>
              <a:rPr lang="en-US" sz="1500" dirty="0">
                <a:solidFill>
                  <a:srgbClr val="FFFFFF"/>
                </a:solidFill>
                <a:latin typeface="Calibri" pitchFamily="34" charset="0"/>
                <a:ea typeface="Calibri" pitchFamily="34" charset="-122"/>
                <a:cs typeface="Calibri" pitchFamily="34" charset="-120"/>
              </a:rPr>
              <a:t>Catches 80% of true cases</a:t>
            </a:r>
            <a:endParaRPr lang="en-US" sz="1500" dirty="0"/>
          </a:p>
          <a:p>
            <a:pPr marL="203200" indent="-203200">
              <a:spcAft>
                <a:spcPts val="1200"/>
              </a:spcAft>
              <a:buSzPct val="100000"/>
              <a:buChar char="•"/>
            </a:pPr>
            <a:r>
              <a:rPr lang="en-US" sz="1500" dirty="0">
                <a:solidFill>
                  <a:srgbClr val="FFFFFF"/>
                </a:solidFill>
                <a:latin typeface="Calibri" pitchFamily="34" charset="0"/>
                <a:ea typeface="Calibri" pitchFamily="34" charset="-122"/>
                <a:cs typeface="Calibri" pitchFamily="34" charset="-120"/>
              </a:rPr>
              <a:t>On small data, simple models can match deep learning</a:t>
            </a:r>
            <a:endParaRPr lang="en-US" sz="1500" dirty="0"/>
          </a:p>
        </p:txBody>
      </p:sp>
      <p:sp>
        <p:nvSpPr>
          <p:cNvPr id="10" name="Shape 8"/>
          <p:cNvSpPr/>
          <p:nvPr/>
        </p:nvSpPr>
        <p:spPr>
          <a:xfrm>
            <a:off x="548640" y="4709160"/>
            <a:ext cx="11091672" cy="1371600"/>
          </a:xfrm>
          <a:prstGeom prst="roundRect">
            <a:avLst>
              <a:gd name="adj" fmla="val 6000"/>
            </a:avLst>
          </a:prstGeom>
          <a:solidFill>
            <a:srgbClr val="11203B"/>
          </a:solidFill>
          <a:ln w="15875">
            <a:solidFill>
              <a:srgbClr val="E63946"/>
            </a:solidFill>
            <a:prstDash val="solid"/>
          </a:ln>
        </p:spPr>
      </p:sp>
      <p:sp>
        <p:nvSpPr>
          <p:cNvPr id="11" name="Text 9"/>
          <p:cNvSpPr txBox="1"/>
          <p:nvPr/>
        </p:nvSpPr>
        <p:spPr>
          <a:xfrm>
            <a:off x="868680" y="4846320"/>
            <a:ext cx="10424160" cy="457200"/>
          </a:xfrm>
          <a:prstGeom prst="rect">
            <a:avLst/>
          </a:prstGeom>
          <a:noFill/>
          <a:ln/>
        </p:spPr>
        <p:txBody>
          <a:bodyPr wrap="square" lIns="0" tIns="0" rIns="0" bIns="0" rtlCol="0" anchor="ctr"/>
          <a:lstStyle/>
          <a:p>
            <a:pPr indent="0" marL="0">
              <a:buNone/>
            </a:pPr>
            <a:r>
              <a:rPr lang="en-US" sz="1500" b="1" dirty="0">
                <a:solidFill>
                  <a:srgbClr val="E9A23B"/>
                </a:solidFill>
                <a:latin typeface="Calibri" pitchFamily="34" charset="0"/>
                <a:ea typeface="Calibri" pitchFamily="34" charset="-122"/>
                <a:cs typeface="Calibri" pitchFamily="34" charset="-120"/>
              </a:rPr>
              <a:t>Next steps:  </a:t>
            </a:r>
            <a:pPr indent="0" marL="0">
              <a:buNone/>
            </a:pPr>
            <a:r>
              <a:rPr lang="en-US" sz="1500" dirty="0">
                <a:solidFill>
                  <a:srgbClr val="FFFFFF"/>
                </a:solidFill>
                <a:latin typeface="Calibri" pitchFamily="34" charset="0"/>
                <a:ea typeface="Calibri" pitchFamily="34" charset="-122"/>
                <a:cs typeface="Calibri" pitchFamily="34" charset="-120"/>
              </a:rPr>
              <a:t>tune settings · explain predictions (SHAP) · test on more data</a:t>
            </a:r>
            <a:endParaRPr lang="en-US" sz="1500" dirty="0"/>
          </a:p>
        </p:txBody>
      </p:sp>
      <p:sp>
        <p:nvSpPr>
          <p:cNvPr id="12" name="Text 10"/>
          <p:cNvSpPr txBox="1"/>
          <p:nvPr/>
        </p:nvSpPr>
        <p:spPr>
          <a:xfrm>
            <a:off x="548640" y="5349240"/>
            <a:ext cx="11091672"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Thank you!</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Heart Disease Prediction — ANN</dc:title>
  <dc:subject>PptxGenJS Presentation</dc:subject>
  <dc:creator>Heart Disease Prediction Team</dc:creator>
  <cp:lastModifiedBy>Heart Disease Prediction Team</cp:lastModifiedBy>
  <cp:revision>1</cp:revision>
  <dcterms:created xsi:type="dcterms:W3CDTF">2026-10-07T13:19:34Z</dcterms:created>
  <dcterms:modified xsi:type="dcterms:W3CDTF">2026-10-07T13:19:34Z</dcterms:modified>
</cp:coreProperties>
</file>